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5143500" cx="9144000"/>
  <p:notesSz cx="6858000" cy="9144000"/>
  <p:embeddedFontLst>
    <p:embeddedFont>
      <p:font typeface="Tahoma"/>
      <p:regular r:id="rId40"/>
      <p:bold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hPmrsDJ5WwdfqBq1R1pGXJ8XjF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regular.fntdata"/><Relationship Id="rId20" Type="http://schemas.openxmlformats.org/officeDocument/2006/relationships/slide" Target="slides/slide16.xml"/><Relationship Id="rId42" Type="http://schemas.openxmlformats.org/officeDocument/2006/relationships/font" Target="fonts/OpenSans-regular.fntdata"/><Relationship Id="rId41" Type="http://schemas.openxmlformats.org/officeDocument/2006/relationships/font" Target="fonts/Tahoma-bold.fntdata"/><Relationship Id="rId22" Type="http://schemas.openxmlformats.org/officeDocument/2006/relationships/slide" Target="slides/slide18.xml"/><Relationship Id="rId44" Type="http://schemas.openxmlformats.org/officeDocument/2006/relationships/font" Target="fonts/OpenSans-italic.fntdata"/><Relationship Id="rId21" Type="http://schemas.openxmlformats.org/officeDocument/2006/relationships/slide" Target="slides/slide17.xml"/><Relationship Id="rId43" Type="http://schemas.openxmlformats.org/officeDocument/2006/relationships/font" Target="fonts/OpenSans-bold.fntdata"/><Relationship Id="rId24" Type="http://schemas.openxmlformats.org/officeDocument/2006/relationships/slide" Target="slides/slide20.xml"/><Relationship Id="rId46" Type="http://customschemas.google.com/relationships/presentationmetadata" Target="metadata"/><Relationship Id="rId23" Type="http://schemas.openxmlformats.org/officeDocument/2006/relationships/slide" Target="slides/slide19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  <a:noFill/>
          <a:ln>
            <a:noFill/>
          </a:ln>
        </p:spPr>
        <p:txBody>
          <a:bodyPr anchorCtr="0" anchor="t" bIns="96600" lIns="96600" spcFirstLastPara="1" rIns="96600" wrap="square" tIns="966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04775" y="750888"/>
            <a:ext cx="6678613" cy="375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  <a:noFill/>
          <a:ln>
            <a:noFill/>
          </a:ln>
        </p:spPr>
        <p:txBody>
          <a:bodyPr anchorCtr="0" anchor="t" bIns="96600" lIns="96600" spcFirstLastPara="1" rIns="96600" wrap="square" tIns="966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04775" y="750888"/>
            <a:ext cx="6678613" cy="375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8" name="Google Shape;368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9" name="Google Shape;39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4:notes"/>
          <p:cNvSpPr txBox="1"/>
          <p:nvPr>
            <p:ph idx="1" type="body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  <a:noFill/>
          <a:ln>
            <a:noFill/>
          </a:ln>
        </p:spPr>
        <p:txBody>
          <a:bodyPr anchorCtr="0" anchor="t" bIns="96600" lIns="96600" spcFirstLastPara="1" rIns="96600" wrap="square" tIns="966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1" name="Google Shape;431;p34:notes"/>
          <p:cNvSpPr/>
          <p:nvPr>
            <p:ph idx="2" type="sldImg"/>
          </p:nvPr>
        </p:nvSpPr>
        <p:spPr>
          <a:xfrm>
            <a:off x="104775" y="750888"/>
            <a:ext cx="6678613" cy="375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4" name="Google Shape;454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7" name="Google Shape;477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7" name="Google Shape;497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6" name="Google Shape;516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1" name="Google Shape;531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4" name="Google Shape;554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7" name="Google Shape;577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4" name="Google Shape;604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1" name="Google Shape;621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Tahoma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52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5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5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3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53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5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5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4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5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5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5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Tahoma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56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8" name="Google Shape;38;p56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" name="Google Shape;39;p5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0" name="Google Shape;40;p5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5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5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5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8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58"/>
          <p:cNvSpPr txBox="1"/>
          <p:nvPr>
            <p:ph idx="1" type="body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1" name="Google Shape;51;p58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2" name="Google Shape;52;p5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5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9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59"/>
          <p:cNvSpPr/>
          <p:nvPr>
            <p:ph idx="2" type="pic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59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5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5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0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60"/>
          <p:cNvSpPr txBox="1"/>
          <p:nvPr>
            <p:ph idx="1" type="body"/>
          </p:nvPr>
        </p:nvSpPr>
        <p:spPr>
          <a:xfrm rot="5400000">
            <a:off x="2869200" y="-1169694"/>
            <a:ext cx="34056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6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6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1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6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6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b="1" i="0" sz="2400" u="none" cap="none" strike="noStrik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51"/>
          <p:cNvPicPr preferRelativeResize="0"/>
          <p:nvPr/>
        </p:nvPicPr>
        <p:blipFill rotWithShape="1">
          <a:blip r:embed="rId1">
            <a:alphaModFix/>
          </a:blip>
          <a:srcRect b="75927" l="62821" r="3833" t="0"/>
          <a:stretch/>
        </p:blipFill>
        <p:spPr>
          <a:xfrm>
            <a:off x="6765326" y="0"/>
            <a:ext cx="2310714" cy="93911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28.png"/><Relationship Id="rId7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39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39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Relationship Id="rId4" Type="http://schemas.openxmlformats.org/officeDocument/2006/relationships/image" Target="../media/image13.png"/><Relationship Id="rId11" Type="http://schemas.openxmlformats.org/officeDocument/2006/relationships/image" Target="../media/image26.png"/><Relationship Id="rId10" Type="http://schemas.openxmlformats.org/officeDocument/2006/relationships/image" Target="../media/image46.png"/><Relationship Id="rId9" Type="http://schemas.openxmlformats.org/officeDocument/2006/relationships/image" Target="../media/image54.png"/><Relationship Id="rId5" Type="http://schemas.openxmlformats.org/officeDocument/2006/relationships/image" Target="../media/image24.png"/><Relationship Id="rId6" Type="http://schemas.openxmlformats.org/officeDocument/2006/relationships/image" Target="../media/image36.png"/><Relationship Id="rId7" Type="http://schemas.openxmlformats.org/officeDocument/2006/relationships/image" Target="../media/image17.png"/><Relationship Id="rId8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png"/><Relationship Id="rId4" Type="http://schemas.openxmlformats.org/officeDocument/2006/relationships/image" Target="../media/image4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Relationship Id="rId4" Type="http://schemas.openxmlformats.org/officeDocument/2006/relationships/image" Target="../media/image59.png"/><Relationship Id="rId5" Type="http://schemas.openxmlformats.org/officeDocument/2006/relationships/image" Target="../media/image37.png"/><Relationship Id="rId6" Type="http://schemas.openxmlformats.org/officeDocument/2006/relationships/image" Target="../media/image55.png"/><Relationship Id="rId7" Type="http://schemas.openxmlformats.org/officeDocument/2006/relationships/image" Target="../media/image6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3.png"/><Relationship Id="rId4" Type="http://schemas.openxmlformats.org/officeDocument/2006/relationships/image" Target="../media/image57.png"/><Relationship Id="rId5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5.png"/><Relationship Id="rId4" Type="http://schemas.openxmlformats.org/officeDocument/2006/relationships/image" Target="../media/image57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Relationship Id="rId4" Type="http://schemas.openxmlformats.org/officeDocument/2006/relationships/image" Target="../media/image59.png"/><Relationship Id="rId5" Type="http://schemas.openxmlformats.org/officeDocument/2006/relationships/image" Target="../media/image71.png"/><Relationship Id="rId6" Type="http://schemas.openxmlformats.org/officeDocument/2006/relationships/image" Target="../media/image6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png"/><Relationship Id="rId4" Type="http://schemas.openxmlformats.org/officeDocument/2006/relationships/image" Target="../media/image59.png"/><Relationship Id="rId5" Type="http://schemas.openxmlformats.org/officeDocument/2006/relationships/image" Target="../media/image6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png"/><Relationship Id="rId4" Type="http://schemas.openxmlformats.org/officeDocument/2006/relationships/image" Target="../media/image49.png"/><Relationship Id="rId5" Type="http://schemas.openxmlformats.org/officeDocument/2006/relationships/image" Target="../media/image69.png"/><Relationship Id="rId6" Type="http://schemas.openxmlformats.org/officeDocument/2006/relationships/image" Target="../media/image6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53.png"/><Relationship Id="rId6" Type="http://schemas.openxmlformats.org/officeDocument/2006/relationships/image" Target="../media/image7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58.png"/><Relationship Id="rId6" Type="http://schemas.openxmlformats.org/officeDocument/2006/relationships/image" Target="../media/image64.png"/><Relationship Id="rId7" Type="http://schemas.openxmlformats.org/officeDocument/2006/relationships/image" Target="../media/image7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5720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3543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"/>
          <p:cNvSpPr txBox="1"/>
          <p:nvPr/>
        </p:nvSpPr>
        <p:spPr>
          <a:xfrm>
            <a:off x="4452183" y="3618203"/>
            <a:ext cx="4615036" cy="14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Análise e Especificação de Requisitos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Análise de Requisitos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Professora Ana Cristine</a:t>
            </a:r>
            <a:endParaRPr b="0" i="0" sz="16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6" name="Google Shape;8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Referencial bibliográfico</a:t>
            </a:r>
            <a:endParaRPr/>
          </a:p>
        </p:txBody>
      </p:sp>
      <p:sp>
        <p:nvSpPr>
          <p:cNvPr id="92" name="Google Shape;9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3" name="Google Shape;9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2375" y="1520173"/>
            <a:ext cx="1952076" cy="2573552"/>
          </a:xfrm>
          <a:prstGeom prst="rect">
            <a:avLst/>
          </a:prstGeom>
          <a:noFill/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pic>
      <p:pic>
        <p:nvPicPr>
          <p:cNvPr id="94" name="Google Shape;9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5874" y="1769625"/>
            <a:ext cx="1790296" cy="2324100"/>
          </a:xfrm>
          <a:prstGeom prst="rect">
            <a:avLst/>
          </a:prstGeom>
          <a:noFill/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000"/>
              <a:t>Roteiro – Análise e Especificação de Requisitos</a:t>
            </a:r>
            <a:endParaRPr/>
          </a:p>
        </p:txBody>
      </p:sp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533902" y="727957"/>
            <a:ext cx="7886700" cy="40952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 sz="1300">
                <a:solidFill>
                  <a:schemeClr val="dk1"/>
                </a:solidFill>
              </a:rPr>
              <a:t>Objetivos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 sz="1300">
                <a:solidFill>
                  <a:schemeClr val="dk1"/>
                </a:solidFill>
              </a:rPr>
              <a:t>Especificação de Requisitos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 sz="1300">
                <a:solidFill>
                  <a:schemeClr val="dk1"/>
                </a:solidFill>
              </a:rPr>
              <a:t>Importância e Problemas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 sz="1300">
                <a:solidFill>
                  <a:schemeClr val="dk1"/>
                </a:solidFill>
              </a:rPr>
              <a:t>Estrutura de um Documento de Especificação de Requisitos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 sz="1300">
                <a:solidFill>
                  <a:schemeClr val="dk1"/>
                </a:solidFill>
              </a:rPr>
              <a:t>Especificação Textual, exemplo e ferramentas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 sz="1300">
                <a:solidFill>
                  <a:schemeClr val="dk1"/>
                </a:solidFill>
              </a:rPr>
              <a:t>Diagrama de Casos de Uso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 sz="1300">
                <a:solidFill>
                  <a:schemeClr val="dk1"/>
                </a:solidFill>
              </a:rPr>
              <a:t>Prática – Casos de Uso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 sz="1300">
                <a:solidFill>
                  <a:schemeClr val="dk1"/>
                </a:solidFill>
              </a:rPr>
              <a:t>Benefícios do uso de Diagramas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 sz="1300">
                <a:solidFill>
                  <a:schemeClr val="dk1"/>
                </a:solidFill>
              </a:rPr>
              <a:t>Interface, Desempenho, Segurança e Escalabilidade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 sz="1300">
                <a:solidFill>
                  <a:schemeClr val="dk1"/>
                </a:solidFill>
              </a:rPr>
              <a:t>Critérios de Aceitação de Requisitos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 sz="1300">
                <a:solidFill>
                  <a:schemeClr val="dk1"/>
                </a:solidFill>
              </a:rPr>
              <a:t>Uso de Protótipos na Especificação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 sz="1300">
                <a:solidFill>
                  <a:schemeClr val="dk1"/>
                </a:solidFill>
              </a:rPr>
              <a:t>Especificação em Metodologias Ágeis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 sz="1300">
                <a:solidFill>
                  <a:schemeClr val="dk1"/>
                </a:solidFill>
              </a:rPr>
              <a:t>Ferramentas Colaborativas na Especificação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 sz="1300">
                <a:solidFill>
                  <a:schemeClr val="dk1"/>
                </a:solidFill>
              </a:rPr>
              <a:t>Encerramento</a:t>
            </a:r>
            <a:endParaRPr/>
          </a:p>
          <a:p>
            <a:pPr indent="-2968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None/>
            </a:pPr>
            <a:r>
              <a:t/>
            </a:r>
            <a:endParaRPr sz="1300"/>
          </a:p>
          <a:p>
            <a:pPr indent="-228594" lvl="0" marL="457189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-228594" lvl="0" marL="457189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</p:txBody>
      </p:sp>
      <p:sp>
        <p:nvSpPr>
          <p:cNvPr id="101" name="Google Shape;101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>
            <p:ph type="title"/>
          </p:nvPr>
        </p:nvSpPr>
        <p:spPr>
          <a:xfrm>
            <a:off x="628650" y="259990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pt-BR"/>
              <a:t>Objetivos</a:t>
            </a:r>
            <a:endParaRPr/>
          </a:p>
        </p:txBody>
      </p:sp>
      <p:sp>
        <p:nvSpPr>
          <p:cNvPr id="107" name="Google Shape;107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08" name="Google Shape;108;p6"/>
          <p:cNvGrpSpPr/>
          <p:nvPr/>
        </p:nvGrpSpPr>
        <p:grpSpPr>
          <a:xfrm>
            <a:off x="524015" y="1072518"/>
            <a:ext cx="7664641" cy="3493258"/>
            <a:chOff x="-114405" y="1662"/>
            <a:chExt cx="8001105" cy="3493258"/>
          </a:xfrm>
        </p:grpSpPr>
        <p:cxnSp>
          <p:nvCxnSpPr>
            <p:cNvPr id="109" name="Google Shape;109;p6"/>
            <p:cNvCxnSpPr/>
            <p:nvPr/>
          </p:nvCxnSpPr>
          <p:spPr>
            <a:xfrm>
              <a:off x="0" y="1662"/>
              <a:ext cx="7886700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862"/>
                </a:srgbClr>
              </a:outerShdw>
            </a:effectLst>
          </p:spPr>
        </p:cxnSp>
        <p:sp>
          <p:nvSpPr>
            <p:cNvPr id="110" name="Google Shape;110;p6"/>
            <p:cNvSpPr/>
            <p:nvPr/>
          </p:nvSpPr>
          <p:spPr>
            <a:xfrm>
              <a:off x="0" y="1662"/>
              <a:ext cx="7886700" cy="1134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6"/>
            <p:cNvSpPr txBox="1"/>
            <p:nvPr/>
          </p:nvSpPr>
          <p:spPr>
            <a:xfrm>
              <a:off x="0" y="1662"/>
              <a:ext cx="7886700" cy="1134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Explorar os conceitos básicos da Especificação de Requisitos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2" name="Google Shape;112;p6"/>
            <p:cNvCxnSpPr/>
            <p:nvPr/>
          </p:nvCxnSpPr>
          <p:spPr>
            <a:xfrm>
              <a:off x="0" y="1135754"/>
              <a:ext cx="7886700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862"/>
                </a:srgbClr>
              </a:outerShdw>
            </a:effectLst>
          </p:spPr>
        </p:cxnSp>
        <p:sp>
          <p:nvSpPr>
            <p:cNvPr id="113" name="Google Shape;113;p6"/>
            <p:cNvSpPr/>
            <p:nvPr/>
          </p:nvSpPr>
          <p:spPr>
            <a:xfrm>
              <a:off x="0" y="1135754"/>
              <a:ext cx="7886700" cy="1134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 txBox="1"/>
            <p:nvPr/>
          </p:nvSpPr>
          <p:spPr>
            <a:xfrm>
              <a:off x="0" y="1135754"/>
              <a:ext cx="7886700" cy="1134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Aprender como fazer especificação de requisitos, conhecer as ferramentas usadas e explorar conceitos importantes</a:t>
              </a:r>
              <a:endParaRPr/>
            </a:p>
          </p:txBody>
        </p:sp>
        <p:cxnSp>
          <p:nvCxnSpPr>
            <p:cNvPr id="115" name="Google Shape;115;p6"/>
            <p:cNvCxnSpPr/>
            <p:nvPr/>
          </p:nvCxnSpPr>
          <p:spPr>
            <a:xfrm>
              <a:off x="0" y="2269845"/>
              <a:ext cx="7886700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862"/>
                </a:srgbClr>
              </a:outerShdw>
            </a:effectLst>
          </p:spPr>
        </p:cxnSp>
        <p:sp>
          <p:nvSpPr>
            <p:cNvPr id="116" name="Google Shape;116;p6"/>
            <p:cNvSpPr/>
            <p:nvPr/>
          </p:nvSpPr>
          <p:spPr>
            <a:xfrm>
              <a:off x="0" y="2269845"/>
              <a:ext cx="7886700" cy="1134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 txBox="1"/>
            <p:nvPr/>
          </p:nvSpPr>
          <p:spPr>
            <a:xfrm>
              <a:off x="-114405" y="2360829"/>
              <a:ext cx="7886700" cy="1134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Aplicar o uso de ferramenta em sala de aula para execução da prática avaliativa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4575"/>
              <a:buNone/>
            </a:pPr>
            <a:r>
              <a:rPr lang="pt-BR" sz="2700"/>
              <a:t>Especificação de Requisitos</a:t>
            </a:r>
            <a:endParaRPr/>
          </a:p>
        </p:txBody>
      </p:sp>
      <p:sp>
        <p:nvSpPr>
          <p:cNvPr id="123" name="Google Shape;12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4" name="Google Shape;124;p8"/>
          <p:cNvSpPr txBox="1"/>
          <p:nvPr/>
        </p:nvSpPr>
        <p:spPr>
          <a:xfrm>
            <a:off x="2011187" y="3381782"/>
            <a:ext cx="1999705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343A4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(Ian </a:t>
            </a:r>
            <a:r>
              <a:rPr b="1" i="0" lang="pt-BR" sz="1400" u="none" cap="none" strike="noStrike">
                <a:solidFill>
                  <a:srgbClr val="343A4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Sommerville)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376515" y="1022372"/>
            <a:ext cx="5564330" cy="1131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0" i="1" lang="pt-BR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a atividade que formaliza o que o sistema deve fazer, em termos de funções e restrições, e a forma como ele deve operar. É </a:t>
            </a:r>
            <a:r>
              <a:rPr b="1" i="1" lang="pt-BR" sz="13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 resultado de um processo de análise de requisitos, no qual os requisitos elicitados são organizados, documentados e detalhados </a:t>
            </a:r>
            <a:r>
              <a:rPr b="0" i="1" lang="pt-BR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maneira compreensível para os desenvolvedores e stakeholders</a:t>
            </a:r>
            <a:r>
              <a:rPr b="0" i="0" lang="pt-BR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1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6132289" y="1749589"/>
            <a:ext cx="3248142" cy="900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Documentação formal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 Funcionais e não Funcionais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Clareza e Precisão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Critérios de Aceitação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Ferramentas e Técnicas</a:t>
            </a:r>
            <a:endParaRPr b="1" i="0" sz="105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6214210" y="1250494"/>
            <a:ext cx="2073943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343A4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(Roger S. </a:t>
            </a:r>
            <a:r>
              <a:rPr b="1" i="0" lang="pt-BR" sz="1400" u="none" cap="none" strike="noStrike">
                <a:solidFill>
                  <a:srgbClr val="343A4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Pressman)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4046080" y="3388018"/>
            <a:ext cx="4572752" cy="1131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0" i="1" lang="pt-BR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etapa fundamental dentro do processo de engenharia de requisitos, onde se cria uma </a:t>
            </a:r>
            <a:r>
              <a:rPr b="1" i="1" lang="pt-BR" sz="13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descrição detalhada das funcionalidades, restrições e características do sistema que será desenvolvido</a:t>
            </a:r>
            <a:r>
              <a:rPr b="0" i="1" lang="pt-BR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 especificação serve como contrato entre o cliente e o fornecedor</a:t>
            </a:r>
            <a:r>
              <a:rPr b="0" i="0" lang="pt-BR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1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906429" y="3867017"/>
            <a:ext cx="3248142" cy="900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detalhada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 modular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Validação com stakeholders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Especificação formal e informal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do cenários e casos de uso</a:t>
            </a:r>
            <a:endParaRPr b="1" i="0" sz="105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4575"/>
              <a:buNone/>
            </a:pPr>
            <a:r>
              <a:rPr lang="pt-BR" sz="2700"/>
              <a:t>Especificação de Requisitos</a:t>
            </a:r>
            <a:endParaRPr/>
          </a:p>
        </p:txBody>
      </p:sp>
      <p:sp>
        <p:nvSpPr>
          <p:cNvPr id="135" name="Google Shape;135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36" name="Google Shape;136;p9"/>
          <p:cNvGrpSpPr/>
          <p:nvPr/>
        </p:nvGrpSpPr>
        <p:grpSpPr>
          <a:xfrm>
            <a:off x="1168269" y="1561717"/>
            <a:ext cx="6994821" cy="2220022"/>
            <a:chOff x="352259" y="737"/>
            <a:chExt cx="6994821" cy="2220022"/>
          </a:xfrm>
        </p:grpSpPr>
        <p:sp>
          <p:nvSpPr>
            <p:cNvPr id="137" name="Google Shape;137;p9"/>
            <p:cNvSpPr/>
            <p:nvPr/>
          </p:nvSpPr>
          <p:spPr>
            <a:xfrm>
              <a:off x="352259" y="737"/>
              <a:ext cx="2997780" cy="190359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69CE7"/>
                </a:gs>
                <a:gs pos="100000">
                  <a:srgbClr val="8ECD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685346" y="317169"/>
              <a:ext cx="2997780" cy="190359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rgbClr val="599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9"/>
            <p:cNvSpPr txBox="1"/>
            <p:nvPr/>
          </p:nvSpPr>
          <p:spPr>
            <a:xfrm>
              <a:off x="741100" y="372923"/>
              <a:ext cx="2886272" cy="17920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pt-BR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Pressman</a:t>
              </a: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foca mais na </a:t>
              </a:r>
              <a:r>
                <a:rPr b="1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clareza e formalidade da documentação</a:t>
              </a: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além de sugerir o </a:t>
              </a:r>
              <a:r>
                <a:rPr b="0" i="0" lang="pt-BR" sz="1600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uso de ferramentas gráficas como UML </a:t>
              </a: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para ajudar na especificação.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4016213" y="737"/>
              <a:ext cx="2997780" cy="190359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469CE7"/>
                </a:gs>
                <a:gs pos="100000">
                  <a:srgbClr val="8ECD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4349300" y="317169"/>
              <a:ext cx="2997780" cy="190359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rgbClr val="599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9"/>
            <p:cNvSpPr txBox="1"/>
            <p:nvPr/>
          </p:nvSpPr>
          <p:spPr>
            <a:xfrm>
              <a:off x="4405054" y="372923"/>
              <a:ext cx="2886272" cy="17920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pt-BR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Sommerville</a:t>
              </a: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dá maior ênfase à </a:t>
              </a:r>
              <a:r>
                <a:rPr b="1" i="0" lang="pt-BR" sz="1600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validação e revisão dos requisito</a:t>
              </a:r>
              <a:r>
                <a:rPr b="1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 com stakeholders e ao uso de especificações </a:t>
              </a: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modulares e organizadas para </a:t>
              </a:r>
              <a:r>
                <a:rPr b="0" i="0" lang="pt-BR" sz="1600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facilitar o entendimento </a:t>
              </a: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 acompanhamento.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92"/>
              <a:buNone/>
            </a:pPr>
            <a:r>
              <a:rPr lang="pt-BR" sz="2000"/>
              <a:t>Especificação de Requisitos - Importância</a:t>
            </a:r>
            <a:endParaRPr sz="2000"/>
          </a:p>
        </p:txBody>
      </p:sp>
      <p:sp>
        <p:nvSpPr>
          <p:cNvPr id="148" name="Google Shape;148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49" name="Google Shape;149;p11"/>
          <p:cNvGrpSpPr/>
          <p:nvPr/>
        </p:nvGrpSpPr>
        <p:grpSpPr>
          <a:xfrm>
            <a:off x="903542" y="1386790"/>
            <a:ext cx="6765094" cy="2168885"/>
            <a:chOff x="467122" y="26305"/>
            <a:chExt cx="6765094" cy="2168885"/>
          </a:xfrm>
        </p:grpSpPr>
        <p:sp>
          <p:nvSpPr>
            <p:cNvPr id="150" name="Google Shape;150;p11"/>
            <p:cNvSpPr/>
            <p:nvPr/>
          </p:nvSpPr>
          <p:spPr>
            <a:xfrm>
              <a:off x="467122" y="26305"/>
              <a:ext cx="895615" cy="89561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>
              <a:off x="655201" y="214385"/>
              <a:ext cx="519456" cy="51945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1554655" y="26305"/>
              <a:ext cx="2111093" cy="8956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 txBox="1"/>
            <p:nvPr/>
          </p:nvSpPr>
          <p:spPr>
            <a:xfrm>
              <a:off x="1554655" y="26305"/>
              <a:ext cx="2111093" cy="8956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Papel no desenvolvimento de software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4033591" y="26305"/>
              <a:ext cx="895615" cy="89561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4221670" y="214385"/>
              <a:ext cx="519456" cy="51945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>
              <a:off x="5121123" y="26305"/>
              <a:ext cx="2111093" cy="8956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 txBox="1"/>
            <p:nvPr/>
          </p:nvSpPr>
          <p:spPr>
            <a:xfrm>
              <a:off x="5121123" y="26305"/>
              <a:ext cx="2111093" cy="8956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Relação com análise de requisitos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467122" y="1299575"/>
              <a:ext cx="895615" cy="89561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1"/>
            <p:cNvSpPr/>
            <p:nvPr/>
          </p:nvSpPr>
          <p:spPr>
            <a:xfrm>
              <a:off x="655201" y="1487654"/>
              <a:ext cx="519456" cy="51945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1"/>
            <p:cNvSpPr/>
            <p:nvPr/>
          </p:nvSpPr>
          <p:spPr>
            <a:xfrm>
              <a:off x="1554655" y="1299575"/>
              <a:ext cx="2111093" cy="8956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1"/>
            <p:cNvSpPr txBox="1"/>
            <p:nvPr/>
          </p:nvSpPr>
          <p:spPr>
            <a:xfrm>
              <a:off x="1554655" y="1299575"/>
              <a:ext cx="2111093" cy="8956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Impacto na qualidade do sistema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1"/>
            <p:cNvSpPr/>
            <p:nvPr/>
          </p:nvSpPr>
          <p:spPr>
            <a:xfrm>
              <a:off x="4033591" y="1299575"/>
              <a:ext cx="895615" cy="895615"/>
            </a:xfrm>
            <a:prstGeom prst="ellipse">
              <a:avLst/>
            </a:prstGeom>
            <a:solidFill>
              <a:srgbClr val="437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1"/>
            <p:cNvSpPr/>
            <p:nvPr/>
          </p:nvSpPr>
          <p:spPr>
            <a:xfrm>
              <a:off x="4221670" y="1487654"/>
              <a:ext cx="519456" cy="51945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1"/>
            <p:cNvSpPr/>
            <p:nvPr/>
          </p:nvSpPr>
          <p:spPr>
            <a:xfrm>
              <a:off x="5121123" y="1299575"/>
              <a:ext cx="2111093" cy="8956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1"/>
            <p:cNvSpPr txBox="1"/>
            <p:nvPr/>
          </p:nvSpPr>
          <p:spPr>
            <a:xfrm>
              <a:off x="5121123" y="1299575"/>
              <a:ext cx="2111093" cy="8956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Comunicação entre partes interessadas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1" name="Google Shape;171;p12"/>
          <p:cNvSpPr txBox="1"/>
          <p:nvPr/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4575"/>
              <a:buFont typeface="Arial"/>
              <a:buNone/>
            </a:pPr>
            <a:r>
              <a:rPr b="0" i="0" lang="pt-BR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Análise e Especificação de Requisitos </a:t>
            </a:r>
            <a:r>
              <a:rPr b="0" i="0" lang="pt-BR" sz="2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Objetivos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12"/>
          <p:cNvGrpSpPr/>
          <p:nvPr/>
        </p:nvGrpSpPr>
        <p:grpSpPr>
          <a:xfrm>
            <a:off x="1802035" y="750639"/>
            <a:ext cx="5124159" cy="3889440"/>
            <a:chOff x="0" y="29572"/>
            <a:chExt cx="5124159" cy="3889440"/>
          </a:xfrm>
        </p:grpSpPr>
        <p:sp>
          <p:nvSpPr>
            <p:cNvPr id="173" name="Google Shape;173;p12"/>
            <p:cNvSpPr/>
            <p:nvPr/>
          </p:nvSpPr>
          <p:spPr>
            <a:xfrm>
              <a:off x="0" y="29572"/>
              <a:ext cx="5124159" cy="6926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2F6CD6"/>
                </a:gs>
                <a:gs pos="100000">
                  <a:srgbClr val="8FB2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2"/>
            <p:cNvSpPr txBox="1"/>
            <p:nvPr/>
          </p:nvSpPr>
          <p:spPr>
            <a:xfrm>
              <a:off x="33812" y="63384"/>
              <a:ext cx="5056535" cy="625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Documentar os requisitos de forma clara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0" y="828772"/>
              <a:ext cx="5124159" cy="6926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2F6CD6"/>
                </a:gs>
                <a:gs pos="100000">
                  <a:srgbClr val="8FB2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2"/>
            <p:cNvSpPr txBox="1"/>
            <p:nvPr/>
          </p:nvSpPr>
          <p:spPr>
            <a:xfrm>
              <a:off x="33812" y="862584"/>
              <a:ext cx="5056535" cy="625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Alinhar expectativas entre stakeholders e equipe técnica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2"/>
            <p:cNvSpPr/>
            <p:nvPr/>
          </p:nvSpPr>
          <p:spPr>
            <a:xfrm>
              <a:off x="0" y="1627972"/>
              <a:ext cx="5124159" cy="6926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2F6CD6"/>
                </a:gs>
                <a:gs pos="100000">
                  <a:srgbClr val="8FB2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2"/>
            <p:cNvSpPr txBox="1"/>
            <p:nvPr/>
          </p:nvSpPr>
          <p:spPr>
            <a:xfrm>
              <a:off x="33812" y="1661784"/>
              <a:ext cx="5056535" cy="625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Facilitar o desenvolvimento e testes do sistema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2"/>
            <p:cNvSpPr/>
            <p:nvPr/>
          </p:nvSpPr>
          <p:spPr>
            <a:xfrm>
              <a:off x="0" y="2427172"/>
              <a:ext cx="5124159" cy="6926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2F6CD6"/>
                </a:gs>
                <a:gs pos="100000">
                  <a:srgbClr val="8FB2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2"/>
            <p:cNvSpPr txBox="1"/>
            <p:nvPr/>
          </p:nvSpPr>
          <p:spPr>
            <a:xfrm>
              <a:off x="33812" y="2460984"/>
              <a:ext cx="5056535" cy="625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Ajudar na comunicação entre usuários e desenvolvedores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2"/>
            <p:cNvSpPr/>
            <p:nvPr/>
          </p:nvSpPr>
          <p:spPr>
            <a:xfrm>
              <a:off x="0" y="3226372"/>
              <a:ext cx="5124159" cy="69264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2F6CD6"/>
                </a:gs>
                <a:gs pos="100000">
                  <a:srgbClr val="8FB2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2"/>
            <p:cNvSpPr txBox="1"/>
            <p:nvPr/>
          </p:nvSpPr>
          <p:spPr>
            <a:xfrm>
              <a:off x="33812" y="3260184"/>
              <a:ext cx="5056535" cy="6250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Evitar retrabalho e problemas futuros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10"/>
              <a:buNone/>
            </a:pPr>
            <a:r>
              <a:rPr lang="pt-BR"/>
              <a:t>Tipos de Requisitos</a:t>
            </a:r>
            <a:endParaRPr/>
          </a:p>
        </p:txBody>
      </p:sp>
      <p:sp>
        <p:nvSpPr>
          <p:cNvPr id="188" name="Google Shape;188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89" name="Google Shape;189;p14"/>
          <p:cNvGrpSpPr/>
          <p:nvPr/>
        </p:nvGrpSpPr>
        <p:grpSpPr>
          <a:xfrm>
            <a:off x="665296" y="1296715"/>
            <a:ext cx="7886700" cy="3258721"/>
            <a:chOff x="0" y="2391"/>
            <a:chExt cx="7886700" cy="3258721"/>
          </a:xfrm>
        </p:grpSpPr>
        <p:sp>
          <p:nvSpPr>
            <p:cNvPr id="190" name="Google Shape;190;p14"/>
            <p:cNvSpPr/>
            <p:nvPr/>
          </p:nvSpPr>
          <p:spPr>
            <a:xfrm>
              <a:off x="0" y="2391"/>
              <a:ext cx="7886700" cy="58032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 txBox="1"/>
            <p:nvPr/>
          </p:nvSpPr>
          <p:spPr>
            <a:xfrm>
              <a:off x="28329" y="30720"/>
              <a:ext cx="7830042" cy="523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Requisitos Funcionais (O que o sistema faz)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0" y="671991"/>
              <a:ext cx="7886700" cy="58032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 txBox="1"/>
            <p:nvPr/>
          </p:nvSpPr>
          <p:spPr>
            <a:xfrm>
              <a:off x="28329" y="700320"/>
              <a:ext cx="7830042" cy="523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Requisitos Não Funcionais (Como o sistema faz)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0" y="1341591"/>
              <a:ext cx="7886700" cy="58032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 txBox="1"/>
            <p:nvPr/>
          </p:nvSpPr>
          <p:spPr>
            <a:xfrm>
              <a:off x="28329" y="1369920"/>
              <a:ext cx="7830042" cy="523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Exemplos práticos de cada tipo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0" y="2011192"/>
              <a:ext cx="7886700" cy="58032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 txBox="1"/>
            <p:nvPr/>
          </p:nvSpPr>
          <p:spPr>
            <a:xfrm>
              <a:off x="28329" y="2039521"/>
              <a:ext cx="7830042" cy="523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Importância de separar funcional e não funcional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0" y="2680792"/>
              <a:ext cx="7886700" cy="58032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 txBox="1"/>
            <p:nvPr/>
          </p:nvSpPr>
          <p:spPr>
            <a:xfrm>
              <a:off x="28329" y="2709121"/>
              <a:ext cx="7830042" cy="523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Relação entre requisitos e metas do sistema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10"/>
              <a:buNone/>
            </a:pPr>
            <a:r>
              <a:rPr lang="pt-BR"/>
              <a:t>Estrutura Básica - DER</a:t>
            </a:r>
            <a:endParaRPr/>
          </a:p>
        </p:txBody>
      </p:sp>
      <p:sp>
        <p:nvSpPr>
          <p:cNvPr id="205" name="Google Shape;205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06" name="Google Shape;206;p15"/>
          <p:cNvGrpSpPr/>
          <p:nvPr/>
        </p:nvGrpSpPr>
        <p:grpSpPr>
          <a:xfrm>
            <a:off x="1228725" y="1155142"/>
            <a:ext cx="6686549" cy="2833216"/>
            <a:chOff x="0" y="0"/>
            <a:chExt cx="6686549" cy="2833216"/>
          </a:xfrm>
        </p:grpSpPr>
        <p:sp>
          <p:nvSpPr>
            <p:cNvPr id="207" name="Google Shape;207;p15"/>
            <p:cNvSpPr/>
            <p:nvPr/>
          </p:nvSpPr>
          <p:spPr>
            <a:xfrm>
              <a:off x="0" y="0"/>
              <a:ext cx="5148643" cy="509979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5"/>
            <p:cNvSpPr txBox="1"/>
            <p:nvPr/>
          </p:nvSpPr>
          <p:spPr>
            <a:xfrm>
              <a:off x="14937" y="14937"/>
              <a:ext cx="4538668" cy="48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Introdução e visão geral do sistema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384476" y="580809"/>
              <a:ext cx="5148643" cy="509979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5"/>
            <p:cNvSpPr txBox="1"/>
            <p:nvPr/>
          </p:nvSpPr>
          <p:spPr>
            <a:xfrm>
              <a:off x="399413" y="595746"/>
              <a:ext cx="4402806" cy="48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Requisitos funcionais e não funcionais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768953" y="1161618"/>
              <a:ext cx="5148643" cy="509979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5"/>
            <p:cNvSpPr txBox="1"/>
            <p:nvPr/>
          </p:nvSpPr>
          <p:spPr>
            <a:xfrm>
              <a:off x="783890" y="1176555"/>
              <a:ext cx="4402806" cy="48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Critérios de aceitação e dependências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1153429" y="1742428"/>
              <a:ext cx="5148643" cy="509979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5"/>
            <p:cNvSpPr txBox="1"/>
            <p:nvPr/>
          </p:nvSpPr>
          <p:spPr>
            <a:xfrm>
              <a:off x="1168366" y="1757365"/>
              <a:ext cx="4402806" cy="48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Requisitos de interface com o usuário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1537906" y="2323237"/>
              <a:ext cx="5148643" cy="509979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5"/>
            <p:cNvSpPr txBox="1"/>
            <p:nvPr/>
          </p:nvSpPr>
          <p:spPr>
            <a:xfrm>
              <a:off x="1552843" y="2338174"/>
              <a:ext cx="4402806" cy="480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Restrições e considerações de projeto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4817157" y="372568"/>
              <a:ext cx="331486" cy="331486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3"/>
              </a:srgbClr>
            </a:solidFill>
            <a:ln cap="flat" cmpd="sng" w="25400">
              <a:solidFill>
                <a:srgbClr val="CFDEEF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5"/>
            <p:cNvSpPr txBox="1"/>
            <p:nvPr/>
          </p:nvSpPr>
          <p:spPr>
            <a:xfrm>
              <a:off x="4891741" y="372568"/>
              <a:ext cx="182318" cy="249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5201633" y="953377"/>
              <a:ext cx="331486" cy="331486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3"/>
              </a:srgbClr>
            </a:solidFill>
            <a:ln cap="flat" cmpd="sng" w="25400">
              <a:solidFill>
                <a:srgbClr val="CFDEEF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5"/>
            <p:cNvSpPr txBox="1"/>
            <p:nvPr/>
          </p:nvSpPr>
          <p:spPr>
            <a:xfrm>
              <a:off x="5276217" y="953377"/>
              <a:ext cx="182318" cy="249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5586110" y="1525687"/>
              <a:ext cx="331486" cy="331486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3"/>
              </a:srgbClr>
            </a:solidFill>
            <a:ln cap="flat" cmpd="sng" w="25400">
              <a:solidFill>
                <a:srgbClr val="CFDEEF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5"/>
            <p:cNvSpPr txBox="1"/>
            <p:nvPr/>
          </p:nvSpPr>
          <p:spPr>
            <a:xfrm>
              <a:off x="5660694" y="1525687"/>
              <a:ext cx="182318" cy="249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5970586" y="2112163"/>
              <a:ext cx="331486" cy="331486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3"/>
              </a:srgbClr>
            </a:solidFill>
            <a:ln cap="flat" cmpd="sng" w="25400">
              <a:solidFill>
                <a:srgbClr val="CFDEEF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5"/>
            <p:cNvSpPr txBox="1"/>
            <p:nvPr/>
          </p:nvSpPr>
          <p:spPr>
            <a:xfrm>
              <a:off x="6045170" y="2112163"/>
              <a:ext cx="182318" cy="249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22850" spcFirstLastPara="1" rIns="2285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Técnicas de </a:t>
            </a:r>
            <a:r>
              <a:rPr lang="pt-BR" sz="2550">
                <a:solidFill>
                  <a:srgbClr val="FF0000"/>
                </a:solidFill>
              </a:rPr>
              <a:t>Especificação de Requisitos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30" name="Google Shape;230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31" name="Google Shape;231;p16"/>
          <p:cNvGrpSpPr/>
          <p:nvPr/>
        </p:nvGrpSpPr>
        <p:grpSpPr>
          <a:xfrm>
            <a:off x="610053" y="2186610"/>
            <a:ext cx="8015625" cy="1406346"/>
            <a:chOff x="2780" y="1040120"/>
            <a:chExt cx="8015625" cy="1406346"/>
          </a:xfrm>
        </p:grpSpPr>
        <p:sp>
          <p:nvSpPr>
            <p:cNvPr id="232" name="Google Shape;232;p16"/>
            <p:cNvSpPr/>
            <p:nvPr/>
          </p:nvSpPr>
          <p:spPr>
            <a:xfrm>
              <a:off x="389499" y="1040120"/>
              <a:ext cx="632812" cy="63281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2780" y="1883966"/>
              <a:ext cx="1406250" cy="5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6"/>
            <p:cNvSpPr txBox="1"/>
            <p:nvPr/>
          </p:nvSpPr>
          <p:spPr>
            <a:xfrm>
              <a:off x="2780" y="1883966"/>
              <a:ext cx="1406250" cy="5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Técnica textual (descrição detalhada)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2041842" y="1040120"/>
              <a:ext cx="632812" cy="63281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1655124" y="1883966"/>
              <a:ext cx="1406250" cy="5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6"/>
            <p:cNvSpPr txBox="1"/>
            <p:nvPr/>
          </p:nvSpPr>
          <p:spPr>
            <a:xfrm>
              <a:off x="1655124" y="1883966"/>
              <a:ext cx="1406250" cy="5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Diagrama de Casos de Uso (UML)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3694186" y="1040120"/>
              <a:ext cx="632812" cy="63281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3307467" y="1883966"/>
              <a:ext cx="1406250" cy="5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6"/>
            <p:cNvSpPr txBox="1"/>
            <p:nvPr/>
          </p:nvSpPr>
          <p:spPr>
            <a:xfrm>
              <a:off x="3307467" y="1883966"/>
              <a:ext cx="1406250" cy="5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Tabelas e fluxogramas para detalhamento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5346530" y="1040120"/>
              <a:ext cx="632812" cy="63281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4959811" y="1883966"/>
              <a:ext cx="1406250" cy="5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6"/>
            <p:cNvSpPr txBox="1"/>
            <p:nvPr/>
          </p:nvSpPr>
          <p:spPr>
            <a:xfrm>
              <a:off x="4959811" y="1883966"/>
              <a:ext cx="1406250" cy="5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Ferramentas colaborativas para especificação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6998874" y="1040120"/>
              <a:ext cx="632812" cy="63281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6612155" y="1883966"/>
              <a:ext cx="1406250" cy="5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6"/>
            <p:cNvSpPr txBox="1"/>
            <p:nvPr/>
          </p:nvSpPr>
          <p:spPr>
            <a:xfrm>
              <a:off x="6612155" y="1883966"/>
              <a:ext cx="1406250" cy="5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Documentação incremental e ágil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"/>
          <p:cNvSpPr txBox="1"/>
          <p:nvPr>
            <p:ph type="title"/>
          </p:nvPr>
        </p:nvSpPr>
        <p:spPr>
          <a:xfrm>
            <a:off x="112718" y="567724"/>
            <a:ext cx="4822037" cy="1218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37"/>
              <a:buNone/>
            </a:pPr>
            <a:r>
              <a:rPr lang="pt-BR" sz="3000"/>
              <a:t>Requisitos Funcionais</a:t>
            </a:r>
            <a:endParaRPr/>
          </a:p>
        </p:txBody>
      </p:sp>
      <p:sp>
        <p:nvSpPr>
          <p:cNvPr id="252" name="Google Shape;252;p17"/>
          <p:cNvSpPr txBox="1"/>
          <p:nvPr>
            <p:ph idx="1" type="body"/>
          </p:nvPr>
        </p:nvSpPr>
        <p:spPr>
          <a:xfrm>
            <a:off x="-79097" y="1277157"/>
            <a:ext cx="4542688" cy="377440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BR" sz="1500">
                <a:latin typeface="Arial"/>
                <a:ea typeface="Arial"/>
                <a:cs typeface="Arial"/>
                <a:sym typeface="Arial"/>
              </a:rPr>
              <a:t> Definir as funcionalidades específicas do sistema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pt-BR" sz="1500">
                <a:latin typeface="Arial"/>
                <a:ea typeface="Arial"/>
                <a:cs typeface="Arial"/>
                <a:sym typeface="Arial"/>
              </a:rPr>
              <a:t> Descrição detalhada de cada funcionalidade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pt-BR" sz="1500">
                <a:latin typeface="Arial"/>
                <a:ea typeface="Arial"/>
                <a:cs typeface="Arial"/>
                <a:sym typeface="Arial"/>
              </a:rPr>
              <a:t> Exemplo: Login, cadastro, transações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pt-BR" sz="1500">
                <a:latin typeface="Arial"/>
                <a:ea typeface="Arial"/>
                <a:cs typeface="Arial"/>
                <a:sym typeface="Arial"/>
              </a:rPr>
              <a:t> Regras de negócio associadas a funcionalidades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400"/>
              </a:spcBef>
              <a:spcAft>
                <a:spcPts val="600"/>
              </a:spcAft>
              <a:buSzPts val="1400"/>
              <a:buNone/>
            </a:pPr>
            <a:r>
              <a:rPr lang="pt-BR" sz="1500">
                <a:latin typeface="Arial"/>
                <a:ea typeface="Arial"/>
                <a:cs typeface="Arial"/>
                <a:sym typeface="Arial"/>
              </a:rPr>
              <a:t> Como organizar requisitos funcionais no documento</a:t>
            </a:r>
            <a:endParaRPr/>
          </a:p>
        </p:txBody>
      </p:sp>
      <p:pic>
        <p:nvPicPr>
          <p:cNvPr descr="Mesa com itens de produtividade" id="253" name="Google Shape;253;p17"/>
          <p:cNvPicPr preferRelativeResize="0"/>
          <p:nvPr/>
        </p:nvPicPr>
        <p:blipFill rotWithShape="1">
          <a:blip r:embed="rId3">
            <a:alphaModFix/>
          </a:blip>
          <a:srcRect b="-2" l="27925" r="12675" t="0"/>
          <a:stretch/>
        </p:blipFill>
        <p:spPr>
          <a:xfrm>
            <a:off x="4572000" y="1"/>
            <a:ext cx="457711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7"/>
          <p:cNvSpPr txBox="1"/>
          <p:nvPr>
            <p:ph idx="12" type="sldNum"/>
          </p:nvPr>
        </p:nvSpPr>
        <p:spPr>
          <a:xfrm>
            <a:off x="6549390" y="4767263"/>
            <a:ext cx="24003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SzPts val="900"/>
              <a:buNone/>
            </a:pPr>
            <a:fld id="{00000000-1234-1234-1234-123412341234}" type="slidenum">
              <a:rPr lang="pt-BR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Requisitos Não-Funcionais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60" name="Google Shape;260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61" name="Google Shape;261;p18"/>
          <p:cNvGrpSpPr/>
          <p:nvPr/>
        </p:nvGrpSpPr>
        <p:grpSpPr>
          <a:xfrm>
            <a:off x="796374" y="1196490"/>
            <a:ext cx="7650172" cy="2511724"/>
            <a:chOff x="129924" y="302410"/>
            <a:chExt cx="7650172" cy="2511724"/>
          </a:xfrm>
        </p:grpSpPr>
        <p:sp>
          <p:nvSpPr>
            <p:cNvPr id="262" name="Google Shape;262;p18"/>
            <p:cNvSpPr/>
            <p:nvPr/>
          </p:nvSpPr>
          <p:spPr>
            <a:xfrm>
              <a:off x="6004068" y="670368"/>
              <a:ext cx="1776028" cy="1776118"/>
            </a:xfrm>
            <a:prstGeom prst="ellipse">
              <a:avLst/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6063472" y="729583"/>
              <a:ext cx="1657981" cy="1657690"/>
            </a:xfrm>
            <a:prstGeom prst="ellipse">
              <a:avLst/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8"/>
            <p:cNvSpPr txBox="1"/>
            <p:nvPr/>
          </p:nvSpPr>
          <p:spPr>
            <a:xfrm>
              <a:off x="6300326" y="966440"/>
              <a:ext cx="1184272" cy="118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pt-BR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Restrições de compatibilidade com sistemas legados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8"/>
            <p:cNvSpPr/>
            <p:nvPr/>
          </p:nvSpPr>
          <p:spPr>
            <a:xfrm rot="2700000">
              <a:off x="4161005" y="670243"/>
              <a:ext cx="1776057" cy="1776057"/>
            </a:xfrm>
            <a:prstGeom prst="teardrop">
              <a:avLst>
                <a:gd fmla="val 100000" name="adj"/>
              </a:avLst>
            </a:prstGeom>
            <a:solidFill>
              <a:schemeClr val="accent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8"/>
            <p:cNvSpPr/>
            <p:nvPr/>
          </p:nvSpPr>
          <p:spPr>
            <a:xfrm>
              <a:off x="4228040" y="729583"/>
              <a:ext cx="1657981" cy="1657690"/>
            </a:xfrm>
            <a:prstGeom prst="ellipse">
              <a:avLst/>
            </a:prstGeom>
            <a:solidFill>
              <a:srgbClr val="4372C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8"/>
            <p:cNvSpPr txBox="1"/>
            <p:nvPr/>
          </p:nvSpPr>
          <p:spPr>
            <a:xfrm>
              <a:off x="4464894" y="966440"/>
              <a:ext cx="1184272" cy="118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pt-BR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Requisitos de usabilidade e acessibilidade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8"/>
            <p:cNvSpPr/>
            <p:nvPr/>
          </p:nvSpPr>
          <p:spPr>
            <a:xfrm rot="2700000">
              <a:off x="2333189" y="670243"/>
              <a:ext cx="1776057" cy="1776057"/>
            </a:xfrm>
            <a:prstGeom prst="teardrop">
              <a:avLst>
                <a:gd fmla="val 100000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2392607" y="729583"/>
              <a:ext cx="1657981" cy="1657690"/>
            </a:xfrm>
            <a:prstGeom prst="ellipse">
              <a:avLst/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8"/>
            <p:cNvSpPr txBox="1"/>
            <p:nvPr/>
          </p:nvSpPr>
          <p:spPr>
            <a:xfrm>
              <a:off x="2629462" y="966440"/>
              <a:ext cx="1184272" cy="118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pt-BR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Exemplos práticos de requisitos não funcionais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8"/>
            <p:cNvSpPr/>
            <p:nvPr/>
          </p:nvSpPr>
          <p:spPr>
            <a:xfrm rot="2700000">
              <a:off x="497757" y="670243"/>
              <a:ext cx="1776057" cy="1776057"/>
            </a:xfrm>
            <a:prstGeom prst="teardrop">
              <a:avLst>
                <a:gd fmla="val 100000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557175" y="729583"/>
              <a:ext cx="1657981" cy="1657690"/>
            </a:xfrm>
            <a:prstGeom prst="ellipse">
              <a:avLst/>
            </a:prstGeom>
            <a:solidFill>
              <a:schemeClr val="accent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8"/>
            <p:cNvSpPr txBox="1"/>
            <p:nvPr/>
          </p:nvSpPr>
          <p:spPr>
            <a:xfrm>
              <a:off x="794030" y="966440"/>
              <a:ext cx="1184272" cy="118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00" lIns="16500" spcFirstLastPara="1" rIns="16500" wrap="square" tIns="16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pt-BR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Descrever restrições de desempenho e segurança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Especificação Textual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79" name="Google Shape;27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80" name="Google Shape;280;p20"/>
          <p:cNvGrpSpPr/>
          <p:nvPr/>
        </p:nvGrpSpPr>
        <p:grpSpPr>
          <a:xfrm>
            <a:off x="1386841" y="768076"/>
            <a:ext cx="6095999" cy="3945363"/>
            <a:chOff x="0" y="0"/>
            <a:chExt cx="6095999" cy="3945363"/>
          </a:xfrm>
        </p:grpSpPr>
        <p:sp>
          <p:nvSpPr>
            <p:cNvPr id="281" name="Google Shape;281;p20"/>
            <p:cNvSpPr/>
            <p:nvPr/>
          </p:nvSpPr>
          <p:spPr>
            <a:xfrm>
              <a:off x="0" y="0"/>
              <a:ext cx="6095999" cy="83025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251153" y="188446"/>
              <a:ext cx="456641" cy="45664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958948" y="1638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0"/>
            <p:cNvSpPr txBox="1"/>
            <p:nvPr/>
          </p:nvSpPr>
          <p:spPr>
            <a:xfrm>
              <a:off x="958948" y="1638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850" lIns="87850" spcFirstLastPara="1" rIns="87850" wrap="square" tIns="87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Linguagem clara e direta para especificação;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0" y="1039460"/>
              <a:ext cx="6095999" cy="83025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251153" y="1226268"/>
              <a:ext cx="456641" cy="45664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958948" y="1039460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0"/>
            <p:cNvSpPr txBox="1"/>
            <p:nvPr/>
          </p:nvSpPr>
          <p:spPr>
            <a:xfrm>
              <a:off x="958948" y="1039460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850" lIns="87850" spcFirstLastPara="1" rIns="87850" wrap="square" tIns="87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Como evitar ambiguidades e termos vagos;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0" y="2077283"/>
              <a:ext cx="6095999" cy="83025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251153" y="2264091"/>
              <a:ext cx="456641" cy="45664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958948" y="2077283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0"/>
            <p:cNvSpPr txBox="1"/>
            <p:nvPr/>
          </p:nvSpPr>
          <p:spPr>
            <a:xfrm>
              <a:off x="958948" y="2077283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850" lIns="87850" spcFirstLastPara="1" rIns="87850" wrap="square" tIns="87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Exemplos práticos de requisitos especificados;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0" y="3115105"/>
              <a:ext cx="6095999" cy="83025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251153" y="3301913"/>
              <a:ext cx="456641" cy="45664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958948" y="3115105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 txBox="1"/>
            <p:nvPr/>
          </p:nvSpPr>
          <p:spPr>
            <a:xfrm>
              <a:off x="958948" y="3115105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850" lIns="87850" spcFirstLastPara="1" rIns="87850" wrap="square" tIns="87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Boas práticas para redigir requisitos textuais;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Especificação Textual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02" name="Google Shape;30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03" name="Google Shape;303;p22"/>
          <p:cNvGrpSpPr/>
          <p:nvPr/>
        </p:nvGrpSpPr>
        <p:grpSpPr>
          <a:xfrm>
            <a:off x="1386841" y="768076"/>
            <a:ext cx="6095999" cy="3945363"/>
            <a:chOff x="0" y="0"/>
            <a:chExt cx="6095999" cy="3945363"/>
          </a:xfrm>
        </p:grpSpPr>
        <p:sp>
          <p:nvSpPr>
            <p:cNvPr id="304" name="Google Shape;304;p22"/>
            <p:cNvSpPr/>
            <p:nvPr/>
          </p:nvSpPr>
          <p:spPr>
            <a:xfrm>
              <a:off x="0" y="0"/>
              <a:ext cx="6095999" cy="83025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251153" y="188446"/>
              <a:ext cx="456641" cy="45664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958948" y="1638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2"/>
            <p:cNvSpPr txBox="1"/>
            <p:nvPr/>
          </p:nvSpPr>
          <p:spPr>
            <a:xfrm>
              <a:off x="958948" y="1638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850" lIns="87850" spcFirstLastPara="1" rIns="87850" wrap="square" tIns="87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Linguagem clara e direta para especificação;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0" y="1039460"/>
              <a:ext cx="6095999" cy="83025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251153" y="1226268"/>
              <a:ext cx="456641" cy="45664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958948" y="1039460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2"/>
            <p:cNvSpPr txBox="1"/>
            <p:nvPr/>
          </p:nvSpPr>
          <p:spPr>
            <a:xfrm>
              <a:off x="958948" y="1039460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850" lIns="87850" spcFirstLastPara="1" rIns="87850" wrap="square" tIns="87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Buscar evitar ambiguidades e termos vagos;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0" y="2077283"/>
              <a:ext cx="6095999" cy="83025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251153" y="2264091"/>
              <a:ext cx="456641" cy="45664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958948" y="2077283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958948" y="2077283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850" lIns="87850" spcFirstLastPara="1" rIns="87850" wrap="square" tIns="87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Exemplos práticos de requisitos especificados;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0" y="3115105"/>
              <a:ext cx="6095999" cy="83025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251153" y="3301913"/>
              <a:ext cx="456641" cy="45664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958948" y="3115105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958948" y="3115105"/>
              <a:ext cx="5137050" cy="830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850" lIns="87850" spcFirstLastPara="1" rIns="87850" wrap="square" tIns="87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Boas práticas para redigir requisitos textuais;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3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Exemplo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25" name="Google Shape;325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26" name="Google Shape;326;p23"/>
          <p:cNvGrpSpPr/>
          <p:nvPr/>
        </p:nvGrpSpPr>
        <p:grpSpPr>
          <a:xfrm>
            <a:off x="432518" y="1659166"/>
            <a:ext cx="8278961" cy="2749729"/>
            <a:chOff x="59457" y="265324"/>
            <a:chExt cx="8278961" cy="2749729"/>
          </a:xfrm>
        </p:grpSpPr>
        <p:sp>
          <p:nvSpPr>
            <p:cNvPr id="327" name="Google Shape;327;p23"/>
            <p:cNvSpPr/>
            <p:nvPr/>
          </p:nvSpPr>
          <p:spPr>
            <a:xfrm>
              <a:off x="59457" y="265324"/>
              <a:ext cx="1096032" cy="1096032"/>
            </a:xfrm>
            <a:prstGeom prst="ellipse">
              <a:avLst/>
            </a:prstGeom>
            <a:solidFill>
              <a:srgbClr val="CFDE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3"/>
            <p:cNvSpPr/>
            <p:nvPr/>
          </p:nvSpPr>
          <p:spPr>
            <a:xfrm>
              <a:off x="289624" y="495490"/>
              <a:ext cx="635699" cy="63569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1390354" y="265324"/>
              <a:ext cx="2583505" cy="109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3"/>
            <p:cNvSpPr txBox="1"/>
            <p:nvPr/>
          </p:nvSpPr>
          <p:spPr>
            <a:xfrm>
              <a:off x="1390354" y="265324"/>
              <a:ext cx="2583505" cy="109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Detalhamento de requisito funcional e não funcional;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4424016" y="265324"/>
              <a:ext cx="1096032" cy="1096032"/>
            </a:xfrm>
            <a:prstGeom prst="ellipse">
              <a:avLst/>
            </a:prstGeom>
            <a:solidFill>
              <a:srgbClr val="CFDE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4654183" y="495490"/>
              <a:ext cx="635699" cy="6356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3"/>
            <p:cNvSpPr/>
            <p:nvPr/>
          </p:nvSpPr>
          <p:spPr>
            <a:xfrm>
              <a:off x="5754913" y="265324"/>
              <a:ext cx="2583505" cy="109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3"/>
            <p:cNvSpPr txBox="1"/>
            <p:nvPr/>
          </p:nvSpPr>
          <p:spPr>
            <a:xfrm>
              <a:off x="5754913" y="265324"/>
              <a:ext cx="2583505" cy="109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Requisitos relacionados a interface de usuário;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3"/>
            <p:cNvSpPr/>
            <p:nvPr/>
          </p:nvSpPr>
          <p:spPr>
            <a:xfrm>
              <a:off x="59457" y="1919021"/>
              <a:ext cx="1096032" cy="1096032"/>
            </a:xfrm>
            <a:prstGeom prst="ellipse">
              <a:avLst/>
            </a:prstGeom>
            <a:solidFill>
              <a:srgbClr val="CFDE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3"/>
            <p:cNvSpPr/>
            <p:nvPr/>
          </p:nvSpPr>
          <p:spPr>
            <a:xfrm>
              <a:off x="289624" y="2149188"/>
              <a:ext cx="635699" cy="6356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3"/>
            <p:cNvSpPr/>
            <p:nvPr/>
          </p:nvSpPr>
          <p:spPr>
            <a:xfrm>
              <a:off x="1390354" y="1919021"/>
              <a:ext cx="2583505" cy="109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3"/>
            <p:cNvSpPr txBox="1"/>
            <p:nvPr/>
          </p:nvSpPr>
          <p:spPr>
            <a:xfrm>
              <a:off x="1390354" y="1919021"/>
              <a:ext cx="2583505" cy="109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Como documentar cenários de uso;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3"/>
            <p:cNvSpPr/>
            <p:nvPr/>
          </p:nvSpPr>
          <p:spPr>
            <a:xfrm>
              <a:off x="4424016" y="1919021"/>
              <a:ext cx="1096032" cy="1096032"/>
            </a:xfrm>
            <a:prstGeom prst="ellipse">
              <a:avLst/>
            </a:prstGeom>
            <a:solidFill>
              <a:srgbClr val="CFDE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3"/>
            <p:cNvSpPr/>
            <p:nvPr/>
          </p:nvSpPr>
          <p:spPr>
            <a:xfrm>
              <a:off x="4654183" y="2149188"/>
              <a:ext cx="635699" cy="6356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5754913" y="1919021"/>
              <a:ext cx="2583505" cy="109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3"/>
            <p:cNvSpPr txBox="1"/>
            <p:nvPr/>
          </p:nvSpPr>
          <p:spPr>
            <a:xfrm>
              <a:off x="5754913" y="1919021"/>
              <a:ext cx="2583505" cy="109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Exemplo de integração com outros sistemas;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3" name="Google Shape;343;p23"/>
          <p:cNvSpPr txBox="1"/>
          <p:nvPr/>
        </p:nvSpPr>
        <p:spPr>
          <a:xfrm>
            <a:off x="2206917" y="945759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ecommerce: Funções essenciais descritas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Ferramentas para Especificação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49" name="Google Shape;349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50" name="Google Shape;350;p24"/>
          <p:cNvGrpSpPr/>
          <p:nvPr/>
        </p:nvGrpSpPr>
        <p:grpSpPr>
          <a:xfrm>
            <a:off x="518173" y="1270659"/>
            <a:ext cx="8041606" cy="2118002"/>
            <a:chOff x="81753" y="278823"/>
            <a:chExt cx="8041606" cy="2118002"/>
          </a:xfrm>
        </p:grpSpPr>
        <p:sp>
          <p:nvSpPr>
            <p:cNvPr id="351" name="Google Shape;351;p24"/>
            <p:cNvSpPr/>
            <p:nvPr/>
          </p:nvSpPr>
          <p:spPr>
            <a:xfrm>
              <a:off x="741885" y="278823"/>
              <a:ext cx="1080215" cy="108021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4"/>
            <p:cNvSpPr/>
            <p:nvPr/>
          </p:nvSpPr>
          <p:spPr>
            <a:xfrm>
              <a:off x="81753" y="1676825"/>
              <a:ext cx="2400479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4"/>
            <p:cNvSpPr txBox="1"/>
            <p:nvPr/>
          </p:nvSpPr>
          <p:spPr>
            <a:xfrm>
              <a:off x="81753" y="1676825"/>
              <a:ext cx="2400479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Documentar e gerenciar requisitos </a:t>
              </a:r>
              <a:br>
                <a:rPr b="0" i="0" lang="pt-BR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pt-BR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(JIRA, DOORS)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4"/>
            <p:cNvSpPr/>
            <p:nvPr/>
          </p:nvSpPr>
          <p:spPr>
            <a:xfrm>
              <a:off x="3562448" y="278823"/>
              <a:ext cx="1080215" cy="108021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4"/>
            <p:cNvSpPr/>
            <p:nvPr/>
          </p:nvSpPr>
          <p:spPr>
            <a:xfrm>
              <a:off x="2902316" y="1676825"/>
              <a:ext cx="2400479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4"/>
            <p:cNvSpPr txBox="1"/>
            <p:nvPr/>
          </p:nvSpPr>
          <p:spPr>
            <a:xfrm>
              <a:off x="2902316" y="1676825"/>
              <a:ext cx="2400479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Vantagens de ferramentas colaborativas </a:t>
              </a:r>
              <a:br>
                <a:rPr b="0" i="0" lang="pt-BR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pt-BR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(Google Docs, Confluence)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4"/>
            <p:cNvSpPr/>
            <p:nvPr/>
          </p:nvSpPr>
          <p:spPr>
            <a:xfrm>
              <a:off x="6383011" y="278823"/>
              <a:ext cx="1080215" cy="108021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4"/>
            <p:cNvSpPr/>
            <p:nvPr/>
          </p:nvSpPr>
          <p:spPr>
            <a:xfrm>
              <a:off x="5722880" y="1676825"/>
              <a:ext cx="2400479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4"/>
            <p:cNvSpPr txBox="1"/>
            <p:nvPr/>
          </p:nvSpPr>
          <p:spPr>
            <a:xfrm>
              <a:off x="5722880" y="1676825"/>
              <a:ext cx="2400479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Ferramentas visuais (Lucidchart, Draw.io)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0" name="Google Shape;36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436" y="3569909"/>
            <a:ext cx="834778" cy="33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41475" y="3569909"/>
            <a:ext cx="1084452" cy="33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08975" y="3626790"/>
            <a:ext cx="726049" cy="627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97109" y="4374760"/>
            <a:ext cx="1483733" cy="367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67329" y="3683606"/>
            <a:ext cx="1319321" cy="30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97935" y="3388254"/>
            <a:ext cx="651819" cy="89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Diagrama de Casos de Uso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71" name="Google Shape;371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2" name="Google Shape;372;p26"/>
          <p:cNvSpPr txBox="1"/>
          <p:nvPr/>
        </p:nvSpPr>
        <p:spPr>
          <a:xfrm>
            <a:off x="337705" y="861983"/>
            <a:ext cx="714894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caso de uso descreve uma interação típica entre um ator (usuário ou outro sistema) e o sistema para atingir um objetivo específico. Na especificação de requisitos, </a:t>
            </a: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os casos de uso ajudam a descrever cenários reais de uso do sistema de forma clara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mostrando como o usuário interage com o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6"/>
          <p:cNvSpPr txBox="1"/>
          <p:nvPr/>
        </p:nvSpPr>
        <p:spPr>
          <a:xfrm>
            <a:off x="282630" y="2571750"/>
            <a:ext cx="3763869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Sequência de ações, executada pelo sistema que gera um resultado: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ator particular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 de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valor observável</a:t>
            </a:r>
            <a:endParaRPr/>
          </a:p>
          <a:p>
            <a:pPr indent="-1968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2099" y="1816090"/>
            <a:ext cx="4956604" cy="2831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7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Diagrama de Casos de Uso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80" name="Google Shape;380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81" name="Google Shape;38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007" y="1109217"/>
            <a:ext cx="6214194" cy="3508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8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Diagrama de Casos de Uso - exemplo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87" name="Google Shape;387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88" name="Google Shape;3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4283" y="963827"/>
            <a:ext cx="6225550" cy="3596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Diagrama de Casos de Uso - exemplo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94" name="Google Shape;394;p29"/>
          <p:cNvSpPr txBox="1"/>
          <p:nvPr>
            <p:ph idx="11" type="ftr"/>
          </p:nvPr>
        </p:nvSpPr>
        <p:spPr>
          <a:xfrm>
            <a:off x="2686052" y="4814526"/>
            <a:ext cx="418504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/>
              <a:t>AR06/2024 – Análise e Especificação de Requisitos - Professor Luiz Alexandre </a:t>
            </a:r>
            <a:endParaRPr/>
          </a:p>
        </p:txBody>
      </p:sp>
      <p:sp>
        <p:nvSpPr>
          <p:cNvPr id="395" name="Google Shape;395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96" name="Google Shape;3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7767" y="783389"/>
            <a:ext cx="6309770" cy="3668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1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Diagrama de Casos de Uso - Prática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02" name="Google Shape;402;p31"/>
          <p:cNvSpPr txBox="1"/>
          <p:nvPr>
            <p:ph idx="11" type="ftr"/>
          </p:nvPr>
        </p:nvSpPr>
        <p:spPr>
          <a:xfrm>
            <a:off x="2686052" y="4814526"/>
            <a:ext cx="418504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/>
              <a:t>AR06/2024 – Análise e Especificação de Requisitos - Professor Luiz Alexandre </a:t>
            </a:r>
            <a:endParaRPr/>
          </a:p>
        </p:txBody>
      </p:sp>
      <p:sp>
        <p:nvSpPr>
          <p:cNvPr id="403" name="Google Shape;403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04" name="Google Shape;40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7365" y="1878488"/>
            <a:ext cx="1212401" cy="143016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1"/>
          <p:cNvSpPr txBox="1"/>
          <p:nvPr/>
        </p:nvSpPr>
        <p:spPr>
          <a:xfrm>
            <a:off x="2224439" y="2724150"/>
            <a:ext cx="31891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15minutos</a:t>
            </a:r>
            <a:endParaRPr/>
          </a:p>
        </p:txBody>
      </p:sp>
      <p:pic>
        <p:nvPicPr>
          <p:cNvPr id="406" name="Google Shape;40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8384" y="980508"/>
            <a:ext cx="5153443" cy="4162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3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Benefícios do uso de Diagramas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12" name="Google Shape;412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413" name="Google Shape;413;p33"/>
          <p:cNvGrpSpPr/>
          <p:nvPr/>
        </p:nvGrpSpPr>
        <p:grpSpPr>
          <a:xfrm>
            <a:off x="62690" y="1873685"/>
            <a:ext cx="8897343" cy="1561045"/>
            <a:chOff x="3550" y="788483"/>
            <a:chExt cx="8897343" cy="1561045"/>
          </a:xfrm>
        </p:grpSpPr>
        <p:sp>
          <p:nvSpPr>
            <p:cNvPr id="414" name="Google Shape;414;p33"/>
            <p:cNvSpPr/>
            <p:nvPr/>
          </p:nvSpPr>
          <p:spPr>
            <a:xfrm>
              <a:off x="432808" y="788483"/>
              <a:ext cx="702421" cy="70242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3"/>
            <p:cNvSpPr/>
            <p:nvPr/>
          </p:nvSpPr>
          <p:spPr>
            <a:xfrm>
              <a:off x="3550" y="1725153"/>
              <a:ext cx="1560937" cy="62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3"/>
            <p:cNvSpPr txBox="1"/>
            <p:nvPr/>
          </p:nvSpPr>
          <p:spPr>
            <a:xfrm>
              <a:off x="3550" y="1725153"/>
              <a:ext cx="1560937" cy="62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Visualização clara dos fluxos de interação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3"/>
            <p:cNvSpPr/>
            <p:nvPr/>
          </p:nvSpPr>
          <p:spPr>
            <a:xfrm>
              <a:off x="2266909" y="788483"/>
              <a:ext cx="702421" cy="70242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3"/>
            <p:cNvSpPr/>
            <p:nvPr/>
          </p:nvSpPr>
          <p:spPr>
            <a:xfrm>
              <a:off x="1837652" y="1725153"/>
              <a:ext cx="1560937" cy="62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3"/>
            <p:cNvSpPr txBox="1"/>
            <p:nvPr/>
          </p:nvSpPr>
          <p:spPr>
            <a:xfrm>
              <a:off x="1837652" y="1725153"/>
              <a:ext cx="1560937" cy="62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Redução de ambiguidades na especificação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3"/>
            <p:cNvSpPr/>
            <p:nvPr/>
          </p:nvSpPr>
          <p:spPr>
            <a:xfrm>
              <a:off x="4101011" y="788483"/>
              <a:ext cx="702421" cy="70242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3"/>
            <p:cNvSpPr/>
            <p:nvPr/>
          </p:nvSpPr>
          <p:spPr>
            <a:xfrm>
              <a:off x="3671753" y="1725153"/>
              <a:ext cx="1560937" cy="62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3"/>
            <p:cNvSpPr txBox="1"/>
            <p:nvPr/>
          </p:nvSpPr>
          <p:spPr>
            <a:xfrm>
              <a:off x="3671753" y="1725153"/>
              <a:ext cx="1560937" cy="62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Facilitação de comunicação entre stakeholders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3"/>
            <p:cNvSpPr/>
            <p:nvPr/>
          </p:nvSpPr>
          <p:spPr>
            <a:xfrm>
              <a:off x="5935113" y="788483"/>
              <a:ext cx="702421" cy="70242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3"/>
            <p:cNvSpPr/>
            <p:nvPr/>
          </p:nvSpPr>
          <p:spPr>
            <a:xfrm>
              <a:off x="5505855" y="1725153"/>
              <a:ext cx="1560937" cy="62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3"/>
            <p:cNvSpPr txBox="1"/>
            <p:nvPr/>
          </p:nvSpPr>
          <p:spPr>
            <a:xfrm>
              <a:off x="5505855" y="1725153"/>
              <a:ext cx="1560937" cy="62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Melhoria na documentação de requisitos complexos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3"/>
            <p:cNvSpPr/>
            <p:nvPr/>
          </p:nvSpPr>
          <p:spPr>
            <a:xfrm>
              <a:off x="7769214" y="788483"/>
              <a:ext cx="702421" cy="70242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3"/>
            <p:cNvSpPr/>
            <p:nvPr/>
          </p:nvSpPr>
          <p:spPr>
            <a:xfrm>
              <a:off x="7339956" y="1725153"/>
              <a:ext cx="1560937" cy="62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3"/>
            <p:cNvSpPr txBox="1"/>
            <p:nvPr/>
          </p:nvSpPr>
          <p:spPr>
            <a:xfrm>
              <a:off x="7339956" y="1725153"/>
              <a:ext cx="1560937" cy="62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Exemplos de diagramas úteis no ciclo de desenvolvimento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4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000"/>
              <a:t>Roteiro – Análise e Especificação de Requisitos</a:t>
            </a:r>
            <a:endParaRPr/>
          </a:p>
        </p:txBody>
      </p:sp>
      <p:sp>
        <p:nvSpPr>
          <p:cNvPr id="434" name="Google Shape;434;p34"/>
          <p:cNvSpPr txBox="1"/>
          <p:nvPr>
            <p:ph idx="1" type="body"/>
          </p:nvPr>
        </p:nvSpPr>
        <p:spPr>
          <a:xfrm>
            <a:off x="533902" y="727957"/>
            <a:ext cx="7886700" cy="40952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✔"/>
            </a:pPr>
            <a:r>
              <a:rPr lang="pt-BR" sz="1300"/>
              <a:t>Objetivos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✔"/>
            </a:pPr>
            <a:r>
              <a:rPr lang="pt-BR" sz="1300"/>
              <a:t>Especificação de Requisitos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✔"/>
            </a:pPr>
            <a:r>
              <a:rPr lang="pt-BR" sz="1300"/>
              <a:t>Importância e Problemas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✔"/>
            </a:pPr>
            <a:r>
              <a:rPr lang="pt-BR" sz="1300"/>
              <a:t>Estrutura de um Documento de Especificação de Requisitos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✔"/>
            </a:pPr>
            <a:r>
              <a:rPr lang="pt-BR" sz="1300"/>
              <a:t>Especificação Textual, exemplo e ferramentas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✔"/>
            </a:pPr>
            <a:r>
              <a:rPr lang="pt-BR" sz="1300"/>
              <a:t>Diagrama de Casos de Uso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✔"/>
            </a:pPr>
            <a:r>
              <a:rPr lang="pt-BR" sz="1300"/>
              <a:t>Prática – Casos de Uso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Noto Sans Symbols"/>
              <a:buChar char="✔"/>
            </a:pPr>
            <a:r>
              <a:rPr lang="pt-BR" sz="1300"/>
              <a:t>Benefícios do uso de Diagramas</a:t>
            </a:r>
            <a:endParaRPr/>
          </a:p>
          <a:p>
            <a:pPr indent="-385763" lvl="0" marL="61435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b="1" lang="pt-BR" sz="1300">
                <a:solidFill>
                  <a:srgbClr val="FF0000"/>
                </a:solidFill>
              </a:rPr>
              <a:t>Interface, Desempenho, Segurança e Escalabilidade</a:t>
            </a:r>
            <a:endParaRPr sz="1300"/>
          </a:p>
          <a:p>
            <a:pPr indent="-228594" lvl="0" marL="457189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/>
          </a:p>
        </p:txBody>
      </p:sp>
      <p:sp>
        <p:nvSpPr>
          <p:cNvPr id="435" name="Google Shape;435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5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Especificação de Requisitos – Interface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41" name="Google Shape;441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442" name="Google Shape;442;p35"/>
          <p:cNvGrpSpPr/>
          <p:nvPr/>
        </p:nvGrpSpPr>
        <p:grpSpPr>
          <a:xfrm>
            <a:off x="911565" y="1569723"/>
            <a:ext cx="7320867" cy="2004052"/>
            <a:chOff x="322237" y="266166"/>
            <a:chExt cx="7320867" cy="2004052"/>
          </a:xfrm>
        </p:grpSpPr>
        <p:sp>
          <p:nvSpPr>
            <p:cNvPr id="443" name="Google Shape;443;p35"/>
            <p:cNvSpPr/>
            <p:nvPr/>
          </p:nvSpPr>
          <p:spPr>
            <a:xfrm>
              <a:off x="923203" y="266166"/>
              <a:ext cx="983400" cy="9834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5"/>
            <p:cNvSpPr/>
            <p:nvPr/>
          </p:nvSpPr>
          <p:spPr>
            <a:xfrm>
              <a:off x="322237" y="1550218"/>
              <a:ext cx="218533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5"/>
            <p:cNvSpPr txBox="1"/>
            <p:nvPr/>
          </p:nvSpPr>
          <p:spPr>
            <a:xfrm>
              <a:off x="322237" y="1550218"/>
              <a:ext cx="218533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pt-BR" sz="1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Integração entre interface gráfica e backend</a:t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5"/>
            <p:cNvSpPr/>
            <p:nvPr/>
          </p:nvSpPr>
          <p:spPr>
            <a:xfrm>
              <a:off x="3490971" y="266166"/>
              <a:ext cx="983400" cy="9834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5"/>
            <p:cNvSpPr/>
            <p:nvPr/>
          </p:nvSpPr>
          <p:spPr>
            <a:xfrm>
              <a:off x="2890004" y="1550218"/>
              <a:ext cx="218533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5"/>
            <p:cNvSpPr txBox="1"/>
            <p:nvPr/>
          </p:nvSpPr>
          <p:spPr>
            <a:xfrm>
              <a:off x="2890004" y="1550218"/>
              <a:ext cx="218533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pt-BR" sz="1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Documentação de padrões de usabilidade</a:t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5"/>
            <p:cNvSpPr/>
            <p:nvPr/>
          </p:nvSpPr>
          <p:spPr>
            <a:xfrm>
              <a:off x="6058738" y="266166"/>
              <a:ext cx="983400" cy="9834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5"/>
            <p:cNvSpPr/>
            <p:nvPr/>
          </p:nvSpPr>
          <p:spPr>
            <a:xfrm>
              <a:off x="5457771" y="1550218"/>
              <a:ext cx="218533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5"/>
            <p:cNvSpPr txBox="1"/>
            <p:nvPr/>
          </p:nvSpPr>
          <p:spPr>
            <a:xfrm>
              <a:off x="5457771" y="1550218"/>
              <a:ext cx="218533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pt-BR" sz="1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Validação de requisitos de interface com usuários</a:t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6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Especificação de Requisitos – Desempenho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57" name="Google Shape;457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458" name="Google Shape;458;p36"/>
          <p:cNvGrpSpPr/>
          <p:nvPr/>
        </p:nvGrpSpPr>
        <p:grpSpPr>
          <a:xfrm>
            <a:off x="1139305" y="904063"/>
            <a:ext cx="6121303" cy="3535328"/>
            <a:chOff x="0" y="1468"/>
            <a:chExt cx="6121303" cy="3535328"/>
          </a:xfrm>
        </p:grpSpPr>
        <p:sp>
          <p:nvSpPr>
            <p:cNvPr id="459" name="Google Shape;459;p36"/>
            <p:cNvSpPr/>
            <p:nvPr/>
          </p:nvSpPr>
          <p:spPr>
            <a:xfrm>
              <a:off x="0" y="1468"/>
              <a:ext cx="6121303" cy="74427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225144" y="168931"/>
              <a:ext cx="409353" cy="40935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859643" y="1468"/>
              <a:ext cx="5261659" cy="744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6"/>
            <p:cNvSpPr txBox="1"/>
            <p:nvPr/>
          </p:nvSpPr>
          <p:spPr>
            <a:xfrm>
              <a:off x="859643" y="1468"/>
              <a:ext cx="5261659" cy="744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8750" lIns="78750" spcFirstLastPara="1" rIns="78750" wrap="square" tIns="7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Carga máxima de usuários simultâneos;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0" y="931818"/>
              <a:ext cx="6121303" cy="74427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225144" y="1099281"/>
              <a:ext cx="409353" cy="409353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859643" y="931818"/>
              <a:ext cx="5261659" cy="744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6"/>
            <p:cNvSpPr txBox="1"/>
            <p:nvPr/>
          </p:nvSpPr>
          <p:spPr>
            <a:xfrm>
              <a:off x="859643" y="931818"/>
              <a:ext cx="5261659" cy="744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8750" lIns="78750" spcFirstLastPara="1" rIns="78750" wrap="square" tIns="7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Exemplo de requisitos de desempenho;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6"/>
            <p:cNvSpPr/>
            <p:nvPr/>
          </p:nvSpPr>
          <p:spPr>
            <a:xfrm>
              <a:off x="0" y="1862167"/>
              <a:ext cx="6121303" cy="74427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225144" y="2029630"/>
              <a:ext cx="409353" cy="40935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6"/>
            <p:cNvSpPr/>
            <p:nvPr/>
          </p:nvSpPr>
          <p:spPr>
            <a:xfrm>
              <a:off x="859643" y="1862167"/>
              <a:ext cx="5261659" cy="744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6"/>
            <p:cNvSpPr txBox="1"/>
            <p:nvPr/>
          </p:nvSpPr>
          <p:spPr>
            <a:xfrm>
              <a:off x="859643" y="1862167"/>
              <a:ext cx="5261659" cy="744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8750" lIns="78750" spcFirstLastPara="1" rIns="78750" wrap="square" tIns="7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Como testar requisitos de desempenho especificados;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0" y="2792517"/>
              <a:ext cx="6121303" cy="74427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225144" y="2959980"/>
              <a:ext cx="409353" cy="409353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859643" y="2792517"/>
              <a:ext cx="5261659" cy="744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6"/>
            <p:cNvSpPr txBox="1"/>
            <p:nvPr/>
          </p:nvSpPr>
          <p:spPr>
            <a:xfrm>
              <a:off x="859643" y="2792517"/>
              <a:ext cx="5261659" cy="744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8750" lIns="78750" spcFirstLastPara="1" rIns="78750" wrap="square" tIns="78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pt-BR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Ferramentas para monitoramento de desempenho;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7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Especificação de Requisitos – Segurança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80" name="Google Shape;480;p37"/>
          <p:cNvSpPr txBox="1"/>
          <p:nvPr>
            <p:ph idx="11" type="ftr"/>
          </p:nvPr>
        </p:nvSpPr>
        <p:spPr>
          <a:xfrm>
            <a:off x="2686052" y="4814526"/>
            <a:ext cx="418504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/>
              <a:t>AR06/2024 – Análise e Especificação de Requisitos - Professor Luiz Alexandre </a:t>
            </a:r>
            <a:endParaRPr/>
          </a:p>
        </p:txBody>
      </p:sp>
      <p:sp>
        <p:nvSpPr>
          <p:cNvPr id="481" name="Google Shape;481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482" name="Google Shape;482;p37"/>
          <p:cNvGrpSpPr/>
          <p:nvPr/>
        </p:nvGrpSpPr>
        <p:grpSpPr>
          <a:xfrm>
            <a:off x="499499" y="1861383"/>
            <a:ext cx="8145000" cy="1800072"/>
            <a:chOff x="107440" y="703729"/>
            <a:chExt cx="8145000" cy="1800072"/>
          </a:xfrm>
        </p:grpSpPr>
        <p:sp>
          <p:nvSpPr>
            <p:cNvPr id="483" name="Google Shape;483;p37"/>
            <p:cNvSpPr/>
            <p:nvPr/>
          </p:nvSpPr>
          <p:spPr>
            <a:xfrm>
              <a:off x="602440" y="703729"/>
              <a:ext cx="810000" cy="81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107440" y="1783801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7"/>
            <p:cNvSpPr txBox="1"/>
            <p:nvPr/>
          </p:nvSpPr>
          <p:spPr>
            <a:xfrm>
              <a:off x="107440" y="1783801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pt-BR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Proteção de dados sensíveis e criptografia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2717440" y="703729"/>
              <a:ext cx="810000" cy="81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2222440" y="1783801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7"/>
            <p:cNvSpPr txBox="1"/>
            <p:nvPr/>
          </p:nvSpPr>
          <p:spPr>
            <a:xfrm>
              <a:off x="2222440" y="1783801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pt-BR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Exemplo de especificação de requisitos para sistemas bancários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4832440" y="703729"/>
              <a:ext cx="810000" cy="810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4337440" y="1783801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7"/>
            <p:cNvSpPr txBox="1"/>
            <p:nvPr/>
          </p:nvSpPr>
          <p:spPr>
            <a:xfrm>
              <a:off x="4337440" y="1783801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pt-BR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Considerações de compliance e regulamentação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6947440" y="703729"/>
              <a:ext cx="810000" cy="810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6452440" y="1783801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7"/>
            <p:cNvSpPr txBox="1"/>
            <p:nvPr/>
          </p:nvSpPr>
          <p:spPr>
            <a:xfrm>
              <a:off x="6452440" y="1783801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pt-BR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Ferramentas para testar requisitos de segurança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4575"/>
              <a:buNone/>
            </a:pPr>
            <a:r>
              <a:rPr lang="pt-BR" sz="2550"/>
              <a:t>Especificação de Requisitos – Escalabilidade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00" name="Google Shape;500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501" name="Google Shape;501;p38"/>
          <p:cNvGrpSpPr/>
          <p:nvPr/>
        </p:nvGrpSpPr>
        <p:grpSpPr>
          <a:xfrm>
            <a:off x="552282" y="1481429"/>
            <a:ext cx="7914376" cy="2610000"/>
            <a:chOff x="48691" y="231981"/>
            <a:chExt cx="7914376" cy="2610000"/>
          </a:xfrm>
        </p:grpSpPr>
        <p:sp>
          <p:nvSpPr>
            <p:cNvPr id="502" name="Google Shape;502;p38"/>
            <p:cNvSpPr/>
            <p:nvPr/>
          </p:nvSpPr>
          <p:spPr>
            <a:xfrm>
              <a:off x="509379" y="231981"/>
              <a:ext cx="1441125" cy="144112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8"/>
            <p:cNvSpPr/>
            <p:nvPr/>
          </p:nvSpPr>
          <p:spPr>
            <a:xfrm>
              <a:off x="816504" y="539106"/>
              <a:ext cx="826875" cy="8268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8"/>
            <p:cNvSpPr/>
            <p:nvPr/>
          </p:nvSpPr>
          <p:spPr>
            <a:xfrm>
              <a:off x="48691" y="2121981"/>
              <a:ext cx="23625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8"/>
            <p:cNvSpPr txBox="1"/>
            <p:nvPr/>
          </p:nvSpPr>
          <p:spPr>
            <a:xfrm>
              <a:off x="48691" y="2121981"/>
              <a:ext cx="23625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pt-BR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RELAÇÃO ENTRE ESCALABILIDADE E ARQUITETURA DO SISTEMA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3285317" y="231981"/>
              <a:ext cx="1441125" cy="144112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3592442" y="539106"/>
              <a:ext cx="826875" cy="8268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2824629" y="2121981"/>
              <a:ext cx="23625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8"/>
            <p:cNvSpPr txBox="1"/>
            <p:nvPr/>
          </p:nvSpPr>
          <p:spPr>
            <a:xfrm>
              <a:off x="2824629" y="2121981"/>
              <a:ext cx="23625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pt-BR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IMPACTO DE REQUISITOS DE ESCALABILIDADE NA INFRAESTRUTURA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6061254" y="231981"/>
              <a:ext cx="1441125" cy="144112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6368379" y="539106"/>
              <a:ext cx="826875" cy="8268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5600567" y="2121981"/>
              <a:ext cx="23625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8"/>
            <p:cNvSpPr txBox="1"/>
            <p:nvPr/>
          </p:nvSpPr>
          <p:spPr>
            <a:xfrm>
              <a:off x="5600567" y="2121981"/>
              <a:ext cx="23625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pt-BR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FERRAMENTAS PARA TESTAR ESCALABILIDADE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0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Especificação - Critérios de Aceitação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19" name="Google Shape;519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520" name="Google Shape;520;p40"/>
          <p:cNvGrpSpPr/>
          <p:nvPr/>
        </p:nvGrpSpPr>
        <p:grpSpPr>
          <a:xfrm>
            <a:off x="309092" y="2076204"/>
            <a:ext cx="8288831" cy="895122"/>
            <a:chOff x="4292" y="1269167"/>
            <a:chExt cx="8288831" cy="895122"/>
          </a:xfrm>
        </p:grpSpPr>
        <p:sp>
          <p:nvSpPr>
            <p:cNvPr id="521" name="Google Shape;521;p40"/>
            <p:cNvSpPr/>
            <p:nvPr/>
          </p:nvSpPr>
          <p:spPr>
            <a:xfrm>
              <a:off x="4292" y="1269167"/>
              <a:ext cx="1790244" cy="895122"/>
            </a:xfrm>
            <a:prstGeom prst="rect">
              <a:avLst/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0"/>
            <p:cNvSpPr txBox="1"/>
            <p:nvPr/>
          </p:nvSpPr>
          <p:spPr>
            <a:xfrm>
              <a:off x="4292" y="1269167"/>
              <a:ext cx="1790244" cy="8951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Exemplo de critério de aceitação para login de usuário;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0"/>
            <p:cNvSpPr/>
            <p:nvPr/>
          </p:nvSpPr>
          <p:spPr>
            <a:xfrm>
              <a:off x="2170487" y="1269167"/>
              <a:ext cx="1790244" cy="895122"/>
            </a:xfrm>
            <a:prstGeom prst="rect">
              <a:avLst/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0"/>
            <p:cNvSpPr txBox="1"/>
            <p:nvPr/>
          </p:nvSpPr>
          <p:spPr>
            <a:xfrm>
              <a:off x="2170487" y="1269167"/>
              <a:ext cx="1790244" cy="8951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Importante: alinhar critérios com os stakeholders;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0"/>
            <p:cNvSpPr/>
            <p:nvPr/>
          </p:nvSpPr>
          <p:spPr>
            <a:xfrm>
              <a:off x="4336683" y="1269167"/>
              <a:ext cx="1790244" cy="895122"/>
            </a:xfrm>
            <a:prstGeom prst="rect">
              <a:avLst/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0"/>
            <p:cNvSpPr txBox="1"/>
            <p:nvPr/>
          </p:nvSpPr>
          <p:spPr>
            <a:xfrm>
              <a:off x="4336683" y="1269167"/>
              <a:ext cx="1790244" cy="8951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Como vincular casos de teste aos critérios de aceitação;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0"/>
            <p:cNvSpPr/>
            <p:nvPr/>
          </p:nvSpPr>
          <p:spPr>
            <a:xfrm>
              <a:off x="6502879" y="1269167"/>
              <a:ext cx="1790244" cy="895122"/>
            </a:xfrm>
            <a:prstGeom prst="rect">
              <a:avLst/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0"/>
            <p:cNvSpPr txBox="1"/>
            <p:nvPr/>
          </p:nvSpPr>
          <p:spPr>
            <a:xfrm>
              <a:off x="6502879" y="1269167"/>
              <a:ext cx="1790244" cy="8951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Validação formal de requisitos através de testes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2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Especificação - Uso de Protótipos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34" name="Google Shape;534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535" name="Google Shape;535;p42"/>
          <p:cNvGrpSpPr/>
          <p:nvPr/>
        </p:nvGrpSpPr>
        <p:grpSpPr>
          <a:xfrm>
            <a:off x="682451" y="1383016"/>
            <a:ext cx="7583439" cy="2520727"/>
            <a:chOff x="139381" y="247926"/>
            <a:chExt cx="7583439" cy="2520727"/>
          </a:xfrm>
        </p:grpSpPr>
        <p:sp>
          <p:nvSpPr>
            <p:cNvPr id="536" name="Google Shape;536;p42"/>
            <p:cNvSpPr/>
            <p:nvPr/>
          </p:nvSpPr>
          <p:spPr>
            <a:xfrm>
              <a:off x="139381" y="247926"/>
              <a:ext cx="1003954" cy="1003954"/>
            </a:xfrm>
            <a:prstGeom prst="ellipse">
              <a:avLst/>
            </a:prstGeom>
            <a:solidFill>
              <a:srgbClr val="D4E2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2"/>
            <p:cNvSpPr/>
            <p:nvPr/>
          </p:nvSpPr>
          <p:spPr>
            <a:xfrm>
              <a:off x="350211" y="458757"/>
              <a:ext cx="582293" cy="58229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rgbClr val="659C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2"/>
            <p:cNvSpPr/>
            <p:nvPr/>
          </p:nvSpPr>
          <p:spPr>
            <a:xfrm>
              <a:off x="1358468" y="247926"/>
              <a:ext cx="2366463" cy="100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2"/>
            <p:cNvSpPr txBox="1"/>
            <p:nvPr/>
          </p:nvSpPr>
          <p:spPr>
            <a:xfrm>
              <a:off x="1358468" y="247926"/>
              <a:ext cx="2366463" cy="100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Protótipos como forma de validar requisitos de interface;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2"/>
            <p:cNvSpPr/>
            <p:nvPr/>
          </p:nvSpPr>
          <p:spPr>
            <a:xfrm>
              <a:off x="4137270" y="247926"/>
              <a:ext cx="1003954" cy="1003954"/>
            </a:xfrm>
            <a:prstGeom prst="ellipse">
              <a:avLst/>
            </a:prstGeom>
            <a:solidFill>
              <a:srgbClr val="D4E2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2"/>
            <p:cNvSpPr/>
            <p:nvPr/>
          </p:nvSpPr>
          <p:spPr>
            <a:xfrm>
              <a:off x="4348101" y="458757"/>
              <a:ext cx="582293" cy="582293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rgbClr val="659C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2"/>
            <p:cNvSpPr/>
            <p:nvPr/>
          </p:nvSpPr>
          <p:spPr>
            <a:xfrm>
              <a:off x="5356357" y="247926"/>
              <a:ext cx="2366463" cy="100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2"/>
            <p:cNvSpPr txBox="1"/>
            <p:nvPr/>
          </p:nvSpPr>
          <p:spPr>
            <a:xfrm>
              <a:off x="5356357" y="247926"/>
              <a:ext cx="2366463" cy="100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Como protótipos ajudam a refinar a especificação;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2"/>
            <p:cNvSpPr/>
            <p:nvPr/>
          </p:nvSpPr>
          <p:spPr>
            <a:xfrm>
              <a:off x="139381" y="1764699"/>
              <a:ext cx="1003954" cy="1003954"/>
            </a:xfrm>
            <a:prstGeom prst="ellipse">
              <a:avLst/>
            </a:prstGeom>
            <a:solidFill>
              <a:srgbClr val="D4E2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2"/>
            <p:cNvSpPr/>
            <p:nvPr/>
          </p:nvSpPr>
          <p:spPr>
            <a:xfrm>
              <a:off x="350211" y="1975530"/>
              <a:ext cx="582293" cy="58229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rgbClr val="659C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2"/>
            <p:cNvSpPr/>
            <p:nvPr/>
          </p:nvSpPr>
          <p:spPr>
            <a:xfrm>
              <a:off x="1358468" y="1764699"/>
              <a:ext cx="2366463" cy="100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2"/>
            <p:cNvSpPr txBox="1"/>
            <p:nvPr/>
          </p:nvSpPr>
          <p:spPr>
            <a:xfrm>
              <a:off x="1358468" y="1764699"/>
              <a:ext cx="2366463" cy="100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Ferramentas para criação de protótipos interativos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2"/>
            <p:cNvSpPr/>
            <p:nvPr/>
          </p:nvSpPr>
          <p:spPr>
            <a:xfrm>
              <a:off x="4137270" y="1764699"/>
              <a:ext cx="1003954" cy="1003954"/>
            </a:xfrm>
            <a:prstGeom prst="ellipse">
              <a:avLst/>
            </a:prstGeom>
            <a:solidFill>
              <a:srgbClr val="D4E2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2"/>
            <p:cNvSpPr/>
            <p:nvPr/>
          </p:nvSpPr>
          <p:spPr>
            <a:xfrm>
              <a:off x="4348101" y="1975530"/>
              <a:ext cx="582293" cy="582293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rgbClr val="659C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2"/>
            <p:cNvSpPr/>
            <p:nvPr/>
          </p:nvSpPr>
          <p:spPr>
            <a:xfrm>
              <a:off x="5356357" y="1764699"/>
              <a:ext cx="2366463" cy="100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2"/>
            <p:cNvSpPr txBox="1"/>
            <p:nvPr/>
          </p:nvSpPr>
          <p:spPr>
            <a:xfrm>
              <a:off x="5356357" y="1764699"/>
              <a:ext cx="2366463" cy="100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Revisão de protótipos com stakeholders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4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Especificação – Métodos Ágeis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57" name="Google Shape;557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558" name="Google Shape;558;p44"/>
          <p:cNvGrpSpPr/>
          <p:nvPr/>
        </p:nvGrpSpPr>
        <p:grpSpPr>
          <a:xfrm>
            <a:off x="342076" y="1390231"/>
            <a:ext cx="8148464" cy="2732835"/>
            <a:chOff x="15015" y="325706"/>
            <a:chExt cx="8148464" cy="2732835"/>
          </a:xfrm>
        </p:grpSpPr>
        <p:sp>
          <p:nvSpPr>
            <p:cNvPr id="559" name="Google Shape;559;p44"/>
            <p:cNvSpPr/>
            <p:nvPr/>
          </p:nvSpPr>
          <p:spPr>
            <a:xfrm>
              <a:off x="15015" y="325706"/>
              <a:ext cx="1078756" cy="10787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4"/>
            <p:cNvSpPr/>
            <p:nvPr/>
          </p:nvSpPr>
          <p:spPr>
            <a:xfrm>
              <a:off x="241554" y="552245"/>
              <a:ext cx="625678" cy="625678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4"/>
            <p:cNvSpPr/>
            <p:nvPr/>
          </p:nvSpPr>
          <p:spPr>
            <a:xfrm>
              <a:off x="1324934" y="325706"/>
              <a:ext cx="2542783" cy="1078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4"/>
            <p:cNvSpPr txBox="1"/>
            <p:nvPr/>
          </p:nvSpPr>
          <p:spPr>
            <a:xfrm>
              <a:off x="1324934" y="325706"/>
              <a:ext cx="2542783" cy="1078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Especificação iterativa e incremental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4"/>
            <p:cNvSpPr/>
            <p:nvPr/>
          </p:nvSpPr>
          <p:spPr>
            <a:xfrm>
              <a:off x="4310777" y="325706"/>
              <a:ext cx="1078756" cy="107875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4"/>
            <p:cNvSpPr/>
            <p:nvPr/>
          </p:nvSpPr>
          <p:spPr>
            <a:xfrm>
              <a:off x="4537316" y="552245"/>
              <a:ext cx="625678" cy="62567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4"/>
            <p:cNvSpPr/>
            <p:nvPr/>
          </p:nvSpPr>
          <p:spPr>
            <a:xfrm>
              <a:off x="5620696" y="325706"/>
              <a:ext cx="2542783" cy="1078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4"/>
            <p:cNvSpPr txBox="1"/>
            <p:nvPr/>
          </p:nvSpPr>
          <p:spPr>
            <a:xfrm>
              <a:off x="5620696" y="325706"/>
              <a:ext cx="2542783" cy="1078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Exemplo de backlog ágil para documentar requisitos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4"/>
            <p:cNvSpPr/>
            <p:nvPr/>
          </p:nvSpPr>
          <p:spPr>
            <a:xfrm>
              <a:off x="15015" y="1979785"/>
              <a:ext cx="1078756" cy="107875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4"/>
            <p:cNvSpPr/>
            <p:nvPr/>
          </p:nvSpPr>
          <p:spPr>
            <a:xfrm>
              <a:off x="241554" y="2206323"/>
              <a:ext cx="625678" cy="625678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4"/>
            <p:cNvSpPr/>
            <p:nvPr/>
          </p:nvSpPr>
          <p:spPr>
            <a:xfrm>
              <a:off x="1324934" y="1979785"/>
              <a:ext cx="2542783" cy="1078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4"/>
            <p:cNvSpPr txBox="1"/>
            <p:nvPr/>
          </p:nvSpPr>
          <p:spPr>
            <a:xfrm>
              <a:off x="1324934" y="1979785"/>
              <a:ext cx="2542783" cy="1078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Diferenças entre especificação ágil e tradicional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4"/>
            <p:cNvSpPr/>
            <p:nvPr/>
          </p:nvSpPr>
          <p:spPr>
            <a:xfrm>
              <a:off x="4310777" y="1979785"/>
              <a:ext cx="1078756" cy="1078756"/>
            </a:xfrm>
            <a:prstGeom prst="ellipse">
              <a:avLst/>
            </a:prstGeom>
            <a:solidFill>
              <a:srgbClr val="437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4"/>
            <p:cNvSpPr/>
            <p:nvPr/>
          </p:nvSpPr>
          <p:spPr>
            <a:xfrm>
              <a:off x="4537316" y="2206323"/>
              <a:ext cx="625678" cy="625678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4"/>
            <p:cNvSpPr/>
            <p:nvPr/>
          </p:nvSpPr>
          <p:spPr>
            <a:xfrm>
              <a:off x="5620696" y="1979785"/>
              <a:ext cx="2542783" cy="1078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4"/>
            <p:cNvSpPr txBox="1"/>
            <p:nvPr/>
          </p:nvSpPr>
          <p:spPr>
            <a:xfrm>
              <a:off x="5620696" y="1979785"/>
              <a:ext cx="2542783" cy="1078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Revisões contínuas de requisitos no Scrum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6"/>
          <p:cNvSpPr txBox="1"/>
          <p:nvPr>
            <p:ph type="title"/>
          </p:nvPr>
        </p:nvSpPr>
        <p:spPr>
          <a:xfrm>
            <a:off x="436420" y="185097"/>
            <a:ext cx="7148945" cy="43835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pt-BR" sz="2550"/>
              <a:t>Especificação - Ferramentas Colaborativas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80" name="Google Shape;580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581" name="Google Shape;581;p46"/>
          <p:cNvGrpSpPr/>
          <p:nvPr/>
        </p:nvGrpSpPr>
        <p:grpSpPr>
          <a:xfrm>
            <a:off x="2004605" y="696005"/>
            <a:ext cx="5134792" cy="4115300"/>
            <a:chOff x="0" y="3220"/>
            <a:chExt cx="5134792" cy="4115300"/>
          </a:xfrm>
        </p:grpSpPr>
        <p:sp>
          <p:nvSpPr>
            <p:cNvPr id="582" name="Google Shape;582;p46"/>
            <p:cNvSpPr/>
            <p:nvPr/>
          </p:nvSpPr>
          <p:spPr>
            <a:xfrm>
              <a:off x="0" y="51321"/>
              <a:ext cx="5134792" cy="685883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6"/>
            <p:cNvSpPr/>
            <p:nvPr/>
          </p:nvSpPr>
          <p:spPr>
            <a:xfrm>
              <a:off x="207479" y="157543"/>
              <a:ext cx="377235" cy="37723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6"/>
            <p:cNvSpPr/>
            <p:nvPr/>
          </p:nvSpPr>
          <p:spPr>
            <a:xfrm>
              <a:off x="792195" y="3220"/>
              <a:ext cx="4342596" cy="685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6"/>
            <p:cNvSpPr txBox="1"/>
            <p:nvPr/>
          </p:nvSpPr>
          <p:spPr>
            <a:xfrm>
              <a:off x="792195" y="3220"/>
              <a:ext cx="4342596" cy="685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575" lIns="72575" spcFirstLastPara="1" rIns="72575" wrap="square" tIns="72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pt-BR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Uso de ferramentas como Google Docs, Confluence, para documentação colaborativa</a:t>
              </a:r>
              <a:endPara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6"/>
            <p:cNvSpPr/>
            <p:nvPr/>
          </p:nvSpPr>
          <p:spPr>
            <a:xfrm>
              <a:off x="0" y="860574"/>
              <a:ext cx="5134792" cy="685883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6"/>
            <p:cNvSpPr/>
            <p:nvPr/>
          </p:nvSpPr>
          <p:spPr>
            <a:xfrm>
              <a:off x="207479" y="1014898"/>
              <a:ext cx="377235" cy="37723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6"/>
            <p:cNvSpPr/>
            <p:nvPr/>
          </p:nvSpPr>
          <p:spPr>
            <a:xfrm>
              <a:off x="792195" y="860574"/>
              <a:ext cx="4342596" cy="685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6"/>
            <p:cNvSpPr txBox="1"/>
            <p:nvPr/>
          </p:nvSpPr>
          <p:spPr>
            <a:xfrm>
              <a:off x="792195" y="860574"/>
              <a:ext cx="4342596" cy="685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575" lIns="72575" spcFirstLastPara="1" rIns="72575" wrap="square" tIns="72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pt-BR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Como manter um histórico de revisões e feedbacks</a:t>
              </a:r>
              <a:endPara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6"/>
            <p:cNvSpPr/>
            <p:nvPr/>
          </p:nvSpPr>
          <p:spPr>
            <a:xfrm>
              <a:off x="0" y="1717928"/>
              <a:ext cx="5134792" cy="685883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6"/>
            <p:cNvSpPr/>
            <p:nvPr/>
          </p:nvSpPr>
          <p:spPr>
            <a:xfrm>
              <a:off x="207479" y="1872252"/>
              <a:ext cx="377235" cy="37723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6"/>
            <p:cNvSpPr/>
            <p:nvPr/>
          </p:nvSpPr>
          <p:spPr>
            <a:xfrm>
              <a:off x="792195" y="1717928"/>
              <a:ext cx="4342596" cy="685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6"/>
            <p:cNvSpPr txBox="1"/>
            <p:nvPr/>
          </p:nvSpPr>
          <p:spPr>
            <a:xfrm>
              <a:off x="792195" y="1717928"/>
              <a:ext cx="4342596" cy="685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575" lIns="72575" spcFirstLastPara="1" rIns="72575" wrap="square" tIns="72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pt-BR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Exemplo de colaboração entre equipe de TI e negócios</a:t>
              </a:r>
              <a:endPara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6"/>
            <p:cNvSpPr/>
            <p:nvPr/>
          </p:nvSpPr>
          <p:spPr>
            <a:xfrm>
              <a:off x="0" y="2575283"/>
              <a:ext cx="5134792" cy="685883"/>
            </a:xfrm>
            <a:prstGeom prst="roundRect">
              <a:avLst>
                <a:gd fmla="val 10000" name="adj"/>
              </a:avLst>
            </a:prstGeom>
            <a:solidFill>
              <a:srgbClr val="4372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6"/>
            <p:cNvSpPr/>
            <p:nvPr/>
          </p:nvSpPr>
          <p:spPr>
            <a:xfrm>
              <a:off x="207479" y="2729606"/>
              <a:ext cx="377235" cy="37723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6"/>
            <p:cNvSpPr/>
            <p:nvPr/>
          </p:nvSpPr>
          <p:spPr>
            <a:xfrm>
              <a:off x="792195" y="2575283"/>
              <a:ext cx="4342596" cy="685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6"/>
            <p:cNvSpPr txBox="1"/>
            <p:nvPr/>
          </p:nvSpPr>
          <p:spPr>
            <a:xfrm>
              <a:off x="792195" y="2575283"/>
              <a:ext cx="4342596" cy="685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575" lIns="72575" spcFirstLastPara="1" rIns="72575" wrap="square" tIns="72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pt-BR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Ferramentas para revisão colaborativa de requisitos</a:t>
              </a:r>
              <a:endPara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6"/>
            <p:cNvSpPr/>
            <p:nvPr/>
          </p:nvSpPr>
          <p:spPr>
            <a:xfrm>
              <a:off x="0" y="3432637"/>
              <a:ext cx="5134792" cy="685883"/>
            </a:xfrm>
            <a:prstGeom prst="roundRect">
              <a:avLst>
                <a:gd fmla="val 1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6"/>
            <p:cNvSpPr/>
            <p:nvPr/>
          </p:nvSpPr>
          <p:spPr>
            <a:xfrm>
              <a:off x="207479" y="3586961"/>
              <a:ext cx="377235" cy="37723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6"/>
            <p:cNvSpPr/>
            <p:nvPr/>
          </p:nvSpPr>
          <p:spPr>
            <a:xfrm>
              <a:off x="792195" y="3432637"/>
              <a:ext cx="4342596" cy="685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6"/>
            <p:cNvSpPr txBox="1"/>
            <p:nvPr/>
          </p:nvSpPr>
          <p:spPr>
            <a:xfrm>
              <a:off x="792195" y="3432637"/>
              <a:ext cx="4342596" cy="685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575" lIns="72575" spcFirstLastPara="1" rIns="72575" wrap="square" tIns="72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pt-BR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Vantagens da colaboração em tempo real</a:t>
              </a:r>
              <a:endParaRPr b="1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9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pt-BR"/>
              <a:t>Objetivos Alcançados</a:t>
            </a:r>
            <a:endParaRPr/>
          </a:p>
        </p:txBody>
      </p:sp>
      <p:sp>
        <p:nvSpPr>
          <p:cNvPr id="607" name="Google Shape;607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08" name="Google Shape;60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5925" y="1649450"/>
            <a:ext cx="1795151" cy="18445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9" name="Google Shape;609;p49"/>
          <p:cNvGrpSpPr/>
          <p:nvPr/>
        </p:nvGrpSpPr>
        <p:grpSpPr>
          <a:xfrm>
            <a:off x="-35543" y="1059565"/>
            <a:ext cx="7664641" cy="3493258"/>
            <a:chOff x="-114405" y="1662"/>
            <a:chExt cx="8001105" cy="3493258"/>
          </a:xfrm>
        </p:grpSpPr>
        <p:cxnSp>
          <p:nvCxnSpPr>
            <p:cNvPr id="610" name="Google Shape;610;p49"/>
            <p:cNvCxnSpPr/>
            <p:nvPr/>
          </p:nvCxnSpPr>
          <p:spPr>
            <a:xfrm>
              <a:off x="0" y="1662"/>
              <a:ext cx="7886700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862"/>
                </a:srgbClr>
              </a:outerShdw>
            </a:effectLst>
          </p:spPr>
        </p:cxnSp>
        <p:sp>
          <p:nvSpPr>
            <p:cNvPr id="611" name="Google Shape;611;p49"/>
            <p:cNvSpPr/>
            <p:nvPr/>
          </p:nvSpPr>
          <p:spPr>
            <a:xfrm>
              <a:off x="0" y="1662"/>
              <a:ext cx="7886700" cy="1134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9"/>
            <p:cNvSpPr txBox="1"/>
            <p:nvPr/>
          </p:nvSpPr>
          <p:spPr>
            <a:xfrm>
              <a:off x="0" y="1662"/>
              <a:ext cx="7886700" cy="1134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Explorar os conceitos básicos da Especificação de Requisitos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3" name="Google Shape;613;p49"/>
            <p:cNvCxnSpPr/>
            <p:nvPr/>
          </p:nvCxnSpPr>
          <p:spPr>
            <a:xfrm>
              <a:off x="0" y="1135754"/>
              <a:ext cx="7886700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862"/>
                </a:srgbClr>
              </a:outerShdw>
            </a:effectLst>
          </p:spPr>
        </p:cxnSp>
        <p:sp>
          <p:nvSpPr>
            <p:cNvPr id="614" name="Google Shape;614;p49"/>
            <p:cNvSpPr/>
            <p:nvPr/>
          </p:nvSpPr>
          <p:spPr>
            <a:xfrm>
              <a:off x="0" y="1135754"/>
              <a:ext cx="7886700" cy="1134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9"/>
            <p:cNvSpPr txBox="1"/>
            <p:nvPr/>
          </p:nvSpPr>
          <p:spPr>
            <a:xfrm>
              <a:off x="0" y="1135754"/>
              <a:ext cx="7886700" cy="1134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Aprender como fazer especificação de requisitos, conhecer as ferramentas usadas e explorar conceitos importantes</a:t>
              </a:r>
              <a:endParaRPr/>
            </a:p>
          </p:txBody>
        </p:sp>
        <p:cxnSp>
          <p:nvCxnSpPr>
            <p:cNvPr id="616" name="Google Shape;616;p49"/>
            <p:cNvCxnSpPr/>
            <p:nvPr/>
          </p:nvCxnSpPr>
          <p:spPr>
            <a:xfrm>
              <a:off x="0" y="2269845"/>
              <a:ext cx="7886700" cy="0"/>
            </a:xfrm>
            <a:prstGeom prst="straightConnector1">
              <a:avLst/>
            </a:prstGeom>
            <a:solidFill>
              <a:schemeClr val="accent2"/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862"/>
                </a:srgbClr>
              </a:outerShdw>
            </a:effectLst>
          </p:spPr>
        </p:cxnSp>
        <p:sp>
          <p:nvSpPr>
            <p:cNvPr id="617" name="Google Shape;617;p49"/>
            <p:cNvSpPr/>
            <p:nvPr/>
          </p:nvSpPr>
          <p:spPr>
            <a:xfrm>
              <a:off x="0" y="2269845"/>
              <a:ext cx="7886700" cy="1134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9"/>
            <p:cNvSpPr txBox="1"/>
            <p:nvPr/>
          </p:nvSpPr>
          <p:spPr>
            <a:xfrm>
              <a:off x="-114405" y="2360829"/>
              <a:ext cx="7886700" cy="11340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Aplicar o uso de ferramenta em sala de aula para execução da prática avaliativa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0"/>
          <p:cNvSpPr txBox="1"/>
          <p:nvPr>
            <p:ph idx="1" type="body"/>
          </p:nvPr>
        </p:nvSpPr>
        <p:spPr>
          <a:xfrm>
            <a:off x="628650" y="1070856"/>
            <a:ext cx="7886700" cy="3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✓"/>
            </a:pPr>
            <a:r>
              <a:rPr lang="pt-BR"/>
              <a:t>Objetivos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✓"/>
            </a:pPr>
            <a:r>
              <a:rPr lang="pt-BR"/>
              <a:t>O que é?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✓"/>
            </a:pPr>
            <a:r>
              <a:rPr lang="pt-BR"/>
              <a:t>Importância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✓"/>
            </a:pPr>
            <a:r>
              <a:rPr lang="pt-BR"/>
              <a:t>Etapas da ER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✓"/>
            </a:pPr>
            <a:r>
              <a:rPr lang="pt-BR"/>
              <a:t>Técnicas de Elicitação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✓"/>
            </a:pPr>
            <a:r>
              <a:rPr lang="pt-BR"/>
              <a:t>Documentação de Requisitos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✓"/>
            </a:pPr>
            <a:r>
              <a:rPr lang="pt-BR"/>
              <a:t>Gerenciamento de Requisitos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✓"/>
            </a:pPr>
            <a:r>
              <a:rPr lang="pt-BR"/>
              <a:t>Validação e Verificação de Requisitos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✓"/>
            </a:pPr>
            <a:r>
              <a:rPr lang="pt-BR"/>
              <a:t>Exemplos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b="1" lang="pt-BR">
                <a:solidFill>
                  <a:srgbClr val="FF0000"/>
                </a:solidFill>
              </a:rPr>
              <a:t>Fechamento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4" name="Google Shape;624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25" name="Google Shape;625;p50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000"/>
              <a:t>Roteiro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 Cristine</dc:creator>
</cp:coreProperties>
</file>